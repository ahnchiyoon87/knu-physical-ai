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과정에서는 유압설비의 냉각 이상에 대응하는 시스템을 사용합니다. 유압설비는 기름의 압력으로 힘을 전달하는 설비입니다. 오늘은 설비를 직접 분해하거나 제어하는 방법보다, 설비에서 나온 데이터를 어떤 판단으로 연결하는지 살펴보겠습니다.</a:t>
            </a:r>
          </a:p>
          <a:p/>
          <a:p>
            <a:r>
              <a:t>화면의 흐름을 왼쪽부터 보겠습니다. 센서 관측을 받고, 그 값을 판단에 사용할 수 있는지 확인해 저장합니다. 이상을 감지하면 사건을 만들고, 해당 설비에 적용되는 문서에서 근거를 찾습니다. 에이전트가 조치를 제안하고 사람이 승인하면, 교육용 시뮬레이터에 조치합니다. 마지막에는 새 관측으로 결과를 확인합니다.</a:t>
            </a:r>
          </a:p>
          <a:p/>
          <a:p>
            <a:r>
              <a:t>이 흐름에는 서로 다른 확인이 들어 있습니다. 숫자를 읽었다는 것, 근거를 찾았다는 것, 명령이 실행됐다는 것은 각각 다른 결과입니다. 이번 영상이 끝나면 단계마다 무엇을 확인해야 하는지, 코딩 에이전트에게 작업을 맡긴 학생은 무엇을 판단해야 하는지 설명할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 섭씨53도라는 숫자가 있다고 가정해 보겠습니다. 실제 실행값을 보고 있는 장면은 아니고, 관측을 설명하는 데 무엇이 필요한지 생각하기 위한 예시입니다. 이 숫자만으로 설비가 정상인지 판단할 수 있을까요? 먼저 어느 설비의 어느 센서인지부터 확인해야 합니다. 같은 공장에 여러 설비가 있으면, 이 숫자를 다른 설비의 상태와 연결하는 순간 이후 판단도 잘못될 수 있습니다.</a:t>
            </a:r>
          </a:p>
          <a:p/>
          <a:p>
            <a:r>
              <a:t>표의 첫 번째 줄에 있는 HYD-01은 설비를 구분하는 이름이고, TS1은 센서를 구분하는 이름입니다. 처음에는 이런 이름을 외우기보다, 결과에 설비와 센서가 따로 표시돼 있는지 보는 것이 중요합니다. 다음 줄의 단위도 같은 이유로 필요합니다.53이라는 숫자는 온도일 수도 있고 압력일 수도 있습니다. 숫자를 정확히 읽었어도 단위가 다르면 전혀 다른 관측을 읽은 셈입니다.</a:t>
            </a:r>
          </a:p>
          <a:p/>
          <a:p>
            <a:r>
              <a:t>구간도 보겠습니다. 화면의 숫자가 지금 들어온 값인지, 이전 실행에서 저장한 값인지, 과거 파일을 재생한 값인지 알아야 합니다. 과거의 높은 온도가 오늘 화면에 표시됐다고 해서 지금 설비가 뜨겁다고 말할 수는 없습니다. 그래프가 움직이더라도 파일을 순서대로 다시 보여 주는 것일 수 있습니다. 움직이는 화면 자체가 현재의 실제 설비와 연결됐다는 증거는 아닙니다.</a:t>
            </a:r>
          </a:p>
          <a:p/>
          <a:p>
            <a:r>
              <a:t>마지막은 출처입니다. 수업에서는 실제 실험에서 수집된 공개 데이터와 교육용 시뮬레이터가 만든 합성 데이터를 모두 사용합니다. 두 데이터는 각각 쓰임이 있습니다. 어느 쪽이든 그 출처를 표시해야 무엇을 확인한 결과인지 설명할 수 있습니다. 이후 여러분이 만든 산출물에서도 숫자 하나를 골라 대상, 단위, 구간, 출처를 말할 수 있는지 확인해 보세요. 그 설명이 어렵다면 화면에 정보를 더 넣거나 원본으로 돌아가는 연결을 보완해야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숫자가 들어오는 부분을 조금 더 나눠 보겠습니다. 표에는 데이터 수집과 재생, 품질 확인, 저장과 조회가 있습니다. 모두 데이터와 관련된 일이지만 남기는 결과는 다릅니다. 먼저 수집이나 재생은 값을 가져오는 일입니다. 센서 파일을 읽었다면 어느 파일의 어느 위치에서 읽었는지 남깁니다. 시뮬레이터가 만들었다면 어떤 실행에서 만들어진 관측인지 남깁니다.</a:t>
            </a:r>
          </a:p>
          <a:p/>
          <a:p>
            <a:r>
              <a:t>그다음은 품질 확인입니다. 센서의 값이 잠시 끊기거나, 갑자기 튀거나, 같은 값에 오래 머무를 수 있습니다. 이런 관측을 다른 값과 똑같이 사용하면 뒤의 감지 결과도 달라질 수 있습니다. 그래서 제공 규칙으로 관측의 품질 정보를 붙입니다. 이 단계에서는 품질 규칙을 직접 구현하지 않고, 품질 정보가 왜 필요한지 이해하겠습니다. 상세한 오류 구분은 이후 회차에서 실제 사례와 함께 다룹니다.</a:t>
            </a:r>
          </a:p>
          <a:p/>
          <a:p>
            <a:r>
              <a:t>여기서 품질OK의 의미를 분명히 해야 합니다. 품질OK는 제공된 센서 품질 규칙을 통과했다는 뜻입니다. 설비 전체가 정상이라는 뜻은 아닙니다. 예를 들어 측정 자체는 일관되고 유효한데 온도가 계속 높을 수 있습니다. 오히려 믿고 사용할 수 있는 높은 온도이기 때문에, 다음 단계에서 냉각 이상 여부를 확인할 필요가 생깁니다. 센서 품질과 설비 상태를 한 단어로 묶으면 이런 차이를 놓칩니다.</a:t>
            </a:r>
          </a:p>
          <a:p/>
          <a:p>
            <a:r>
              <a:t>저장과 조회는 나중에도 같은 관측을 찾을 수 있게 하는 일입니다. 그래프를 닫았거나 프로그램을 다시 시작해도 어떤 실행의 어떤 구간을 봤는지 되찾아야 합니다. 에이전트가 저장했다고 답하면, 지정한 구간을 다시 조회해 확인할 수 있어야 합니다. 데이터가 들어왔는지, 품질 정보가 붙었는지, 다시 찾을 수 있는지는 각각 확인합니다. 이러한 기록이 준비돼야 이후 판단의 이유를 설명할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관측을 저장했다면, 다음에는 이 숫자가 어떤 설비와 연결되는지 알아야 합니다. 수업에서는 설비, 센서, 문서와 조치 사이의 관계를 사용합니다. 지금은 관계를 저장하는 코드 문법보다 관계가 왜 필요한지 보겠습니다. 관측의 설비 ID에서 출발해 해당 설비의 센서와 허용 조치를 찾고, 그 설비에 적용되는 작업 절차를 조회하는 것입니다.</a:t>
            </a:r>
          </a:p>
          <a:p/>
          <a:p>
            <a:r>
              <a:t>작업 절차를 담은 문서를 SOP라고 부릅니다. 문장을 검색해 비슷한 내용을 찾는 것만으로는 충분하지 않습니다. 냉각 이상이라는 말이 똑같이 들어 있어도 다른 설비 전용 절차일 수 있기 때문입니다. 우리 설비에 적용되는지, 현재 유효한 버전인지, 지금 발생한 사건의 종류와 맞는지를 함께 확인해야 합니다. 표의 세 줄이 그 확인을 나타냅니다.</a:t>
            </a:r>
          </a:p>
          <a:p/>
          <a:p>
            <a:r>
              <a:t>예를 들어 두 설비에서 높은 온도가 관측됐다고 생각해 보겠습니다. 두 숫자가 비슷하다는 이유로 같은 조치를 선택할 수는 없습니다. 각 설비의 허용 조치와 적용 문서가 다를 수 있습니다. 또한 과거에 사용하던 문서가 검색됐더라도 지금 폐기된 버전이면 현재 조치의 근거로 쓸 수 있는지 다시 확인해야 합니다. 문서가 검색됐다는 사실과 적용 가능한 근거를 찾았다는 판단을 구분하는 이유입니다.</a:t>
            </a:r>
          </a:p>
          <a:p/>
          <a:p>
            <a:r>
              <a:t>이 관계를 체계적으로 표현하는 부분이 과정에서 다룰 온톨로지입니다. 여기서는 설비와 센서, 문서와 조치처럼 업무에 필요한 대상을 어떤 의미로 연결할지 정리한다고 이해하면 됩니다. 이후 회차에 Neo4j를 사용해 실제 관계를 조회합니다. 오늘은 숫자만 저장한 표로 끝나지 않고, 그 숫자의 대상과 적용 근거로 이어지는 연결이 필요하다는 점을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 근거를 찾았다고 바로 조치하는 것은 아닙니다. 화면의 표에는 제안, 승인 기록, 명령 성공, 회복 판단이 나뉘어 있습니다. 먼저 제안은 어떤 조치를 어떤 근거로 제시했는지를 보여 줍니다. 에이전트는 도구로 관측과 설비 정보를 조회하고, 적용 문서를 검색하며, 제안의 조건을 검사합니다. 하지만 제안이 있다는 사실만으로 사람이 승인했다고 볼 수는 없습니다.</a:t>
            </a:r>
          </a:p>
          <a:p/>
          <a:p>
            <a:r>
              <a:t>승인은 별도의 기록으로 확인합니다. 어떤 사건에 대해 누가 어떤 조치와 값을 허용했는지가 연결돼야 합니다. 단지 에이전트의 답변에 승인됐다는 문장이 적혀 있는 것으로 대신할 수 없습니다. 업무 흐름이 이 단계를 따로 관리하는 이유입니다. 학생이 화면을 읽을 때도 제안 상태인지 승인 상태인지 먼저 구분해야 합니다.</a:t>
            </a:r>
          </a:p>
          <a:p/>
          <a:p>
            <a:r>
              <a:t>승인을 거쳐 명령이 실행됐다고 하겠습니다. 프로그램이 성공을 돌려주면 명령 수행 결과를 확인한 것입니다. 설비가 회복했다는 결론은 아직 별도의 확인이 필요합니다. 예를 들어 시뮬레이터의 부하를 낮추는 명령이 수행됐더라도, 이후의 온도가 회복 기준에 도달하지 않았을 수 있습니다. 새로 들어온 관측을 보고 충분한 구간에서 회복 조건을 충족했는지 확인해야 합니다.</a:t>
            </a:r>
          </a:p>
          <a:p/>
          <a:p>
            <a:r>
              <a:t>이렇게 판단 결과에 따라 다음 행동이 달라집니다. 회복했다면 종결할 수 있고, 개선되지 않았다면 추가 확인이나 담당자 이관이 필요할 수 있습니다. 새 관측이 부족하면 그 부족함을 남겨야 합니다. 수업에서 여러분은 결과 메시지 하나를 보고 끝내는 대신, 표의 어느 줄까지 근거가 있는지 설명하게 됩니다. 지금은 세부 상태 이름을 외우기보다 다음 단계로 넘어갈 때 어떤 확인이 필요한지 살펴보세요.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출처를 확인해야 한다고 했습니다. 이제 두 출처로 각각 어떤 검증을 할 수 있는지 비교하겠습니다. 왼쪽의 UCI 파일에는 실험에서 이미 수집된 센서값이 들어 있습니다. 우리는 이 파일을 읽어 센서별 기록 속도를 확인하고, 같은 시간 구간으로 묶고, 처리 결과에서 원본 위치를 찾습니다. 원본이 정해져 있으므로 같은 입력을 다시 읽어 처리 결과를 비교하기 좋습니다.</a:t>
            </a:r>
          </a:p>
          <a:p/>
          <a:p>
            <a:r>
              <a:t>그런데 과거 파일의 값은 오늘 내린 조치 때문에 달라지지 않습니다. 예를 들어 화면에서 부하 감소를 요청한 뒤 파일의 다음 부분을 재생했더니 온도가 내려갔다고 해 보겠습니다. 그 하락은 원래 파일에 기록돼 있던 변화입니다. 방금 내린 명령이 그 파일의 과거에 영향을 준 것은 아닙니다. 그래서 그 장면만으로 이번 조치의 효과를 입증했다고 말할 수 없습니다.</a:t>
            </a:r>
          </a:p>
          <a:p/>
          <a:p>
            <a:r>
              <a:t>오른쪽의 교육용 시뮬레이터는 프로그램의 상태에서 새로운 값을 만듭니다. 냉각 효율이나 부하 같은 구현된 조건이 이후 관측에 영향을 줄 수 있습니다. 이 환경에서는 사건을 만들고, 근거를 확인하고, 승인된 조치를 실행한 뒤 새 관측을 읽는 연결을 연습합니다. 어떤 상태에서 어떤 조치를 했는지 기록해야 나중에 결과를 해석할 수 있습니다.</a:t>
            </a:r>
          </a:p>
          <a:p/>
          <a:p>
            <a:r>
              <a:t>물론 시뮬레이터에도 범위가 있습니다. 교육용으로 구현한 모델에서 그런 결과가 나왔다는 뜻입니다. 실제 공장의 동일한 설비에서도 같은 효과가 난다고 바로 일반화할 수는 없습니다. 여러분이 개인 산출물을 설명할 때도 원본 데이터에서 확인한 처리 결과인지, 시뮬레이터에서 확인한 업무 흐름인지 함께 말해야 합니다. 두 데이터가 서로 대신할 수 없는 확인이 있다는 점이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지금까지의 흐름을 구현하려면 여러 도구가 연결됩니다. 이런 도구와 기술의 구성을 스택이라고 부릅니다. 표에는 이번 과정에서 만날 이름과 맡는 일을 적었습니다. 모든 이름의 사용법을 지금 익힐 필요는 없습니다. 어떤 일을 위해 그 도구를 쓰는지 먼저 연결하겠습니다.</a:t>
            </a:r>
          </a:p>
          <a:p/>
          <a:p>
            <a:r>
              <a:t>Python은 데이터를 읽고 처리하는 동작을 코드로 표현합니다. PostgreSQL은 관측과 실행, 사건 등의 기록을 저장하는 데 사용합니다. Neo4j는 설비와 문서 같은 대상의 관계를 조회하는 데 사용합니다. 에이전트와 업무 흐름은 도구를 사용하는 제안, 사람의 승인, 실행 단계를 연결합니다. 관제 화면에서는 이런 결과와 근거를 확인합니다. 화면 하나가 모든 판단을 혼자 수행하는 것은 아닙니다.</a:t>
            </a:r>
          </a:p>
          <a:p/>
          <a:p>
            <a:r>
              <a:t>설치, 코드 작성, 연결 설정은 코딩 에이전트에 맡깁니다. 그러나 설치가 끝났다는 답변만으로 여러분의 학습이 끝나지는 않습니다. 무엇을 만들려는지, 어떤 입력을 사용할지, 결과에 어떤 정보가 남아야 하는지 말할 수 있어야 합니다. 실행된 화면에서 그 요구가 충족됐는지도 확인해야 합니다. 자동으로 구현된 코드를 직접 사용하고 결과를 판단하는 것이 학생의 역할입니다.</a:t>
            </a:r>
          </a:p>
          <a:p/>
          <a:p>
            <a:r>
              <a:t>예를 들어 학생이 서로 다른 센서의 값을 같은 시간에 비교하고 싶다고 하겠습니다. 에이전트는 파일을 읽고 그래프를 만들 수 있습니다. 학생은 센서마다 측정 속도가 다르다는 점을 이해하고, 같은 열 번호를 그냥 붙였는지 같은 시간 구간을 맞췄는지 확인해야 합니다. 이 판단을 하려면 기본 스택이 다루는 데이터와 결과의 의미를 알아야 합니다. 앞으로의 영상은 그 판단에 필요한 개념을 차례로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온도 그래프를 만들어 달라고만 요청하면 여러 결과가 나올 수 있습니다. 합성 데이터를 새로 만들어도 그래프는 그려질 수 있고, 다른 사이클을 읽어도 곡선은 보입니다. 따라서 그래프가 나타났다는 사실만으로 내가 원한 작업이 수행됐다고 판단하기는 어렵습니다. 표의 네 항목으로 요청을 구체화해 보겠습니다.</a:t>
            </a:r>
          </a:p>
          <a:p/>
          <a:p>
            <a:r>
              <a:t>먼저 목적입니다. 이번 예시에서는 표시된 값을 원본에서 찾을 수 있게 하려 합니다. 다음은 입력입니다. 지정한 UCI 사이클의 TS1 관측을 사용한다고 적습니다. 동작에는 경과 초별 온도를 표시하고 원본 위치를 함께 남긴다고 씁니다. 확인 기준에는 단위, 사이클 번호, 경과 초가 원본과 일치해야 한다고 적습니다. 이런 조건이 있어야 결과가 맞는지 실제로 비교할 수 있습니다.</a:t>
            </a:r>
          </a:p>
          <a:p/>
          <a:p>
            <a:r>
              <a:t>이렇게 필요한 동작과 확인 기준을 구현 전에 명세로 정리하는 방식을 SDD라고 부릅니다. 처음부터 긴 문서나 복잡한 형식을 만들 필요는 없습니다. 이 작은 예시에서도 어떤 입력을 사용하고 어떤 결과를 확인할지 적으면 명세의 역할을 합니다. 이후 개인 프로젝트에서도 같은 방식으로 자신의 요구를 정리할 수 있습니다.</a:t>
            </a:r>
          </a:p>
          <a:p/>
          <a:p>
            <a:r>
              <a:t>요청을 전달한 뒤에는 에이전트가 이해한 내용을 확인합니다. 예를 들어 원본의 경과 초 대신 실제 수집 날짜라고 설명했다면, 이 데이터에 그 날짜가 제공되는지 물어봐야 합니다. 없는 정보를 생성해 붙이도록 요구하면 안 됩니다. 주어진 데이터에서 확인할 수 있는 것과 확인할 수 없는 것을 구분해 요청하는 것도 학생의 판단입니다. 구현이 끝났을 때는 이 표를 다시 열어 입력과 결과가 요구에 맞는지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상황을 보겠습니다. 첫째, 부하 감소를 요청한 뒤 과거 UCI 파일을 다시 읽었더니 온도가 낮아지는 구간이 보였습니다. 이것을 이번 조치의 효과라고 할 수 있을까요? 답을 고르는 데서 멈추지 말고, 그 데이터가 언제 어떤 방식으로 만들어졌는지 생각해 보세요.</a:t>
            </a:r>
          </a:p>
          <a:p/>
          <a:p>
            <a:r>
              <a:t>과거 파일은 이미 수집된 관측입니다. 지금 내린 조치가 그때의 값을 바꾸지 않습니다. 온도가 낮아지는 구간을 제대로 읽었을 수는 있지만, 이번 조치가 그 하락을 만들었다는 근거는 아닙니다. 이번 조치 뒤 생성된 새로운 관측과 조치 기록이 연결돼야 그 효과를 판단할 수 있습니다.</a:t>
            </a:r>
          </a:p>
          <a:p/>
          <a:p>
            <a:r>
              <a:t>둘째, 에이전트가 승인받았다고 답했습니다. 실행 전에 무엇을 확인해야 할까요? 승인이라는 문구의 존재보다 실제 기록을 확인해야 합니다. 그 기록이 같은 사건에 대한 것인지, 제안된 조치와 값이 승인된 내용과 일치하는지 봅니다. 다른 사건의 승인을 가져와 지금 사건에 적용해서는 안 됩니다.</a:t>
            </a:r>
          </a:p>
          <a:p/>
          <a:p>
            <a:r>
              <a:t>셋째, 품질OK인 높은 온도가 보입니다. 다음에는 무엇을 확인해야 할까요? 품질OK를 설비 정상으로 해석하지 않습니다. 해당 입력에 사용하는 감지 기준과 구간을 확인해 높은 온도가 어떤 의미인지 판단해야 합니다. 이후 사건이 만들어지면 그 설비와 사건에 적용되는 근거를 찾습니다. 세 질문의 공통점은 화면의 짧은 표현을 읽는 것에서 그치지 않고, 그 표현이 어떤 기록과 조건에 근거하는지 확인한다는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에이전트가 작업을 마쳤다고 보고했을 때 어떻게 대응할지 보겠습니다. 표의 첫 줄처럼 온도 곡선만 있다면 대상, 단위, 시간축, 원본 위치를 확인합니다. 정보가 부족하다면 그래프가 틀렸다고 막연히 말하기보다, 어떤 내용을 추가해야 판단할 수 있는지 요청합니다. 예를 들어 사이클과 경과 초를 표시하고 선택한 점의 원본 위치를 보여 달라고 말할 수 있습니다.</a:t>
            </a:r>
          </a:p>
          <a:p/>
          <a:p>
            <a:r>
              <a:t>두 번째 줄은 테스트 통과라는 보고입니다. 테스트는 정해진 조건을 검사한 결과입니다. 무엇을 검사했는지 확인해야 그 결과를 해석할 수 있습니다. 파일을 읽는 검사만 통과했는데 화면에서 원본을 추적할 수 있다고 결론 내리면 확인 범위를 넘어섭니다. 입력, 검사 조건, 실제 출력이 함께 있어야 내가 정한 수용 조건과 비교할 수 있습니다.</a:t>
            </a:r>
          </a:p>
          <a:p/>
          <a:p>
            <a:r>
              <a:t>세 번째와 네 번째 줄은 앞서 본 사례입니다. 과거 파일에서 온도가 하락한 것은 이번 조치 후 관측인지 확인해야 하고, 승인 완료라는 문장은 해당 사건의 실제 승인 기록과 대조해야 합니다. 이런 확인은 에이전트를 무조건 불신하라는 뜻이 아닙니다. 요청한 기능이 무엇이고 그 기능을 입증하는 결과가 무엇인지 일관되게 연결하는 방법입니다.</a:t>
            </a:r>
          </a:p>
          <a:p/>
          <a:p>
            <a:r>
              <a:t>결과가 요구에 맞으면 수용하고 다음 단계로 넘어갑니다. 부족하면 빠진 조건과 관찰한 사실을 들어 수정을 요청합니다. 이렇게 해야 무작정 다시 만들어 달라는 반복을 줄일 수 있습니다. 이후 개인 산출물을 만들 때에도 내가 무엇을 요청했고 어떤 결과로 확인했는지를 남겨 보세요. 그것이 다른 사람에게 자신의 결과를 설명할 수 있는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영상에서는 냉각 이상 대응의 전체 흐름과 학생의 역할을 살펴봤습니다. 관측에는 대상, 단위, 시간, 출처가 필요합니다. 품질을 확인한 관측으로 사건을 판단하고, 설비에 적용되는 근거로 조치를 제안합니다. 승인을 거쳐 실행한 뒤에는 새로운 관측으로 결과를 확인합니다. 각 단계가 남기는 기록과 확인하는 조건이 다르다는 점을 기억해 주세요.</a:t>
            </a:r>
          </a:p>
          <a:p/>
          <a:p>
            <a:r>
              <a:t>코딩 에이전트는 구현과 설정, 검사 실행을 맡습니다. 학생은 필요한 기능을 요구하고 실제 결과가 그 요구를 충족했는지 판단합니다. 제공 스택을 직접 사용하면서 이 판단을 반복하고, 나중에는 자신의 문제와 산출물에 적용하게 됩니다.</a:t>
            </a:r>
          </a:p>
          <a:p/>
          <a:p>
            <a:r>
              <a:t>다음 영상에서는 이 흐름의 출발점으로 돌아가 센서값과 단위를 살펴보겠습니다. 같은 숫자라도 어떤 센서가 어떤 단위로 측정했는지에 따라 뜻이 달라집니다. 그 정보를 코드의 센서 설정과 관측 레코드에서 어떻게 읽는지 연결하겠습니다.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냉각 이상 대응의 전체 흐름</a:t>
            </a:r>
          </a:p>
        </p:txBody>
      </p:sp>
      <p:sp>
        <p:nvSpPr>
          <p:cNvPr id="3" name="Rounded Rectangle 2"/>
          <p:cNvSpPr/>
          <p:nvPr/>
        </p:nvSpPr>
        <p:spPr>
          <a:xfrm>
            <a:off x="655320" y="16336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708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1. 관측</a:t>
            </a:r>
          </a:p>
        </p:txBody>
      </p:sp>
      <p:sp>
        <p:nvSpPr>
          <p:cNvPr id="5" name="Rounded Rectangle 4"/>
          <p:cNvSpPr/>
          <p:nvPr/>
        </p:nvSpPr>
        <p:spPr>
          <a:xfrm>
            <a:off x="3409950" y="16336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86150" y="17708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2. 품질 확인·저장</a:t>
            </a:r>
          </a:p>
        </p:txBody>
      </p:sp>
      <p:sp>
        <p:nvSpPr>
          <p:cNvPr id="7" name="Rounded Rectangle 6"/>
          <p:cNvSpPr/>
          <p:nvPr/>
        </p:nvSpPr>
        <p:spPr>
          <a:xfrm>
            <a:off x="6164580" y="16336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40780" y="17708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3. 이상 사건</a:t>
            </a:r>
          </a:p>
        </p:txBody>
      </p:sp>
      <p:sp>
        <p:nvSpPr>
          <p:cNvPr id="9" name="Rounded Rectangle 8"/>
          <p:cNvSpPr/>
          <p:nvPr/>
        </p:nvSpPr>
        <p:spPr>
          <a:xfrm>
            <a:off x="8919210" y="16336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95410" y="17708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4. 적용 근거</a:t>
            </a:r>
          </a:p>
        </p:txBody>
      </p:sp>
      <p:sp>
        <p:nvSpPr>
          <p:cNvPr id="11" name="Rounded Rectangle 10"/>
          <p:cNvSpPr/>
          <p:nvPr/>
        </p:nvSpPr>
        <p:spPr>
          <a:xfrm>
            <a:off x="655320" y="29671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1043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5. 조치 제안</a:t>
            </a:r>
          </a:p>
        </p:txBody>
      </p:sp>
      <p:sp>
        <p:nvSpPr>
          <p:cNvPr id="13" name="Rounded Rectangle 12"/>
          <p:cNvSpPr/>
          <p:nvPr/>
        </p:nvSpPr>
        <p:spPr>
          <a:xfrm>
            <a:off x="3409950" y="29671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6150" y="31043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6. 사람 승인</a:t>
            </a:r>
          </a:p>
        </p:txBody>
      </p:sp>
      <p:sp>
        <p:nvSpPr>
          <p:cNvPr id="15" name="Rounded Rectangle 14"/>
          <p:cNvSpPr/>
          <p:nvPr/>
        </p:nvSpPr>
        <p:spPr>
          <a:xfrm>
            <a:off x="6164580" y="29671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0780" y="31043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7. 조치</a:t>
            </a:r>
          </a:p>
        </p:txBody>
      </p:sp>
      <p:sp>
        <p:nvSpPr>
          <p:cNvPr id="17" name="Rounded Rectangle 16"/>
          <p:cNvSpPr/>
          <p:nvPr/>
        </p:nvSpPr>
        <p:spPr>
          <a:xfrm>
            <a:off x="8919210" y="2967157"/>
            <a:ext cx="2617470" cy="1104900"/>
          </a:xfrm>
          <a:prstGeom prst="roundRect">
            <a:avLst>
              <a:gd name="adj" fmla="val 3493"/>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5410" y="3104317"/>
            <a:ext cx="2526030" cy="845820"/>
          </a:xfrm>
          <a:prstGeom prst="rect">
            <a:avLst/>
          </a:prstGeom>
          <a:noFill/>
        </p:spPr>
        <p:txBody>
          <a:bodyPr wrap="square" lIns="0" rIns="0" tIns="0" bIns="0" anchor="t">
            <a:spAutoFit/>
          </a:bodyPr>
          <a:lstStyle/>
          <a:p>
            <a:pPr algn="ctr">
              <a:lnSpc>
                <a:spcPts val="2841"/>
              </a:lnSpc>
            </a:pPr>
            <a:r>
              <a:rPr sz="1920" b="1">
                <a:solidFill>
                  <a:srgbClr val="FFFFFF"/>
                </a:solidFill>
                <a:latin typeface="맑은 고딕"/>
              </a:rPr>
              <a:t>8. 새 관측</a:t>
            </a:r>
          </a:p>
        </p:txBody>
      </p:sp>
      <p:sp>
        <p:nvSpPr>
          <p:cNvPr id="19" name="TextBox 18"/>
          <p:cNvSpPr txBox="1"/>
          <p:nvPr/>
        </p:nvSpPr>
        <p:spPr>
          <a:xfrm>
            <a:off x="655320" y="449877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1~4에서 판단할 근거를 모으고, 5~8에서 조치와 이후 상태를 확인합니다.</a:t>
            </a:r>
          </a:p>
        </p:txBody>
      </p:sp>
      <p:sp>
        <p:nvSpPr>
          <p:cNvPr id="20" name="TextBox 19"/>
          <p:cNvSpPr txBox="1"/>
          <p:nvPr/>
        </p:nvSpPr>
        <p:spPr>
          <a:xfrm>
            <a:off x="655320" y="5082421"/>
            <a:ext cx="10942320" cy="423624"/>
          </a:xfrm>
          <a:prstGeom prst="rect">
            <a:avLst/>
          </a:prstGeom>
          <a:noFill/>
        </p:spPr>
        <p:txBody>
          <a:bodyPr wrap="square" lIns="0" rIns="0" tIns="0" bIns="0" anchor="t">
            <a:spAutoFit/>
          </a:bodyPr>
          <a:lstStyle/>
          <a:p>
            <a:pPr algn="l">
              <a:lnSpc>
                <a:spcPts val="2976"/>
              </a:lnSpc>
            </a:pPr>
            <a:r>
              <a:rPr sz="1920" b="1">
                <a:solidFill>
                  <a:srgbClr val="007C78"/>
                </a:solidFill>
                <a:latin typeface="맑은 고딕"/>
              </a:rPr>
              <a:t>이번 영상의 목표: 각 단계가 무엇을 확인하며, 학생이 어떤 결과를 판단하는지 설명하기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온도53°C만으로 알 수 없는 것</a:t>
            </a:r>
          </a:p>
        </p:txBody>
      </p:sp>
      <p:sp>
        <p:nvSpPr>
          <p:cNvPr id="3" name="TextBox 2"/>
          <p:cNvSpPr txBox="1"/>
          <p:nvPr/>
        </p:nvSpPr>
        <p:spPr>
          <a:xfrm>
            <a:off x="655320" y="138981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설명용 예시입니다.</a:t>
            </a:r>
          </a:p>
        </p:txBody>
      </p:sp>
      <p:sp>
        <p:nvSpPr>
          <p:cNvPr id="4" name="Rectangle 3"/>
          <p:cNvSpPr/>
          <p:nvPr/>
        </p:nvSpPr>
        <p:spPr>
          <a:xfrm>
            <a:off x="655320" y="1988701"/>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200" y="2095381"/>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확인할 정보</a:t>
            </a:r>
          </a:p>
        </p:txBody>
      </p:sp>
      <p:sp>
        <p:nvSpPr>
          <p:cNvPr id="6" name="Rectangle 5"/>
          <p:cNvSpPr/>
          <p:nvPr/>
        </p:nvSpPr>
        <p:spPr>
          <a:xfrm>
            <a:off x="4282440" y="1988701"/>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65320" y="2095381"/>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예시</a:t>
            </a:r>
          </a:p>
        </p:txBody>
      </p:sp>
      <p:sp>
        <p:nvSpPr>
          <p:cNvPr id="8" name="Rectangle 7"/>
          <p:cNvSpPr/>
          <p:nvPr/>
        </p:nvSpPr>
        <p:spPr>
          <a:xfrm>
            <a:off x="7909560" y="1988701"/>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095381"/>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빠지면 생기는 문제</a:t>
            </a:r>
          </a:p>
        </p:txBody>
      </p:sp>
      <p:cxnSp>
        <p:nvCxnSpPr>
          <p:cNvPr id="10" name="Connector 9"/>
          <p:cNvCxnSpPr/>
          <p:nvPr/>
        </p:nvCxnSpPr>
        <p:spPr>
          <a:xfrm>
            <a:off x="655320" y="3498771"/>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38200" y="2677478"/>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대상</a:t>
            </a:r>
          </a:p>
        </p:txBody>
      </p:sp>
      <p:cxnSp>
        <p:nvCxnSpPr>
          <p:cNvPr id="12" name="Connector 11"/>
          <p:cNvCxnSpPr/>
          <p:nvPr/>
        </p:nvCxnSpPr>
        <p:spPr>
          <a:xfrm>
            <a:off x="4282440" y="3498771"/>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65320" y="2677478"/>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HYD-01의 TS1</a:t>
            </a:r>
          </a:p>
        </p:txBody>
      </p:sp>
      <p:cxnSp>
        <p:nvCxnSpPr>
          <p:cNvPr id="14" name="Connector 13"/>
          <p:cNvCxnSpPr/>
          <p:nvPr/>
        </p:nvCxnSpPr>
        <p:spPr>
          <a:xfrm>
            <a:off x="7909560" y="3498771"/>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92440" y="2677478"/>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다른 설비의 값을 판단할 수 있음</a:t>
            </a:r>
          </a:p>
        </p:txBody>
      </p:sp>
      <p:cxnSp>
        <p:nvCxnSpPr>
          <p:cNvPr id="16" name="Connector 15"/>
          <p:cNvCxnSpPr/>
          <p:nvPr/>
        </p:nvCxnSpPr>
        <p:spPr>
          <a:xfrm>
            <a:off x="655320" y="409610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38200" y="3605451"/>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단위</a:t>
            </a:r>
          </a:p>
        </p:txBody>
      </p:sp>
      <p:cxnSp>
        <p:nvCxnSpPr>
          <p:cNvPr id="18" name="Connector 17"/>
          <p:cNvCxnSpPr/>
          <p:nvPr/>
        </p:nvCxnSpPr>
        <p:spPr>
          <a:xfrm>
            <a:off x="4282440" y="409610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65320" y="3605451"/>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°C</a:t>
            </a:r>
          </a:p>
        </p:txBody>
      </p:sp>
      <p:cxnSp>
        <p:nvCxnSpPr>
          <p:cNvPr id="20" name="Connector 19"/>
          <p:cNvCxnSpPr/>
          <p:nvPr/>
        </p:nvCxnSpPr>
        <p:spPr>
          <a:xfrm>
            <a:off x="7909560" y="409610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92440" y="3605451"/>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서로 다른 측정량을 혼동함</a:t>
            </a:r>
          </a:p>
        </p:txBody>
      </p:sp>
      <p:cxnSp>
        <p:nvCxnSpPr>
          <p:cNvPr id="22" name="Connector 21"/>
          <p:cNvCxnSpPr/>
          <p:nvPr/>
        </p:nvCxnSpPr>
        <p:spPr>
          <a:xfrm>
            <a:off x="655320" y="4693444"/>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38200" y="4202787"/>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구간</a:t>
            </a:r>
          </a:p>
        </p:txBody>
      </p:sp>
      <p:cxnSp>
        <p:nvCxnSpPr>
          <p:cNvPr id="24" name="Connector 23"/>
          <p:cNvCxnSpPr/>
          <p:nvPr/>
        </p:nvCxnSpPr>
        <p:spPr>
          <a:xfrm>
            <a:off x="4282440" y="4693444"/>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65320" y="4202787"/>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특정 사이클의 경과30초</a:t>
            </a:r>
          </a:p>
        </p:txBody>
      </p:sp>
      <p:cxnSp>
        <p:nvCxnSpPr>
          <p:cNvPr id="26" name="Connector 25"/>
          <p:cNvCxnSpPr/>
          <p:nvPr/>
        </p:nvCxnSpPr>
        <p:spPr>
          <a:xfrm>
            <a:off x="7909560" y="4693444"/>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92440" y="4202787"/>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이전 값과 현재 값을 혼동함</a:t>
            </a:r>
          </a:p>
        </p:txBody>
      </p:sp>
      <p:cxnSp>
        <p:nvCxnSpPr>
          <p:cNvPr id="28" name="Connector 27"/>
          <p:cNvCxnSpPr/>
          <p:nvPr/>
        </p:nvCxnSpPr>
        <p:spPr>
          <a:xfrm>
            <a:off x="655320" y="562903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38200" y="4800124"/>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출처</a:t>
            </a:r>
          </a:p>
        </p:txBody>
      </p:sp>
      <p:cxnSp>
        <p:nvCxnSpPr>
          <p:cNvPr id="30" name="Connector 29"/>
          <p:cNvCxnSpPr/>
          <p:nvPr/>
        </p:nvCxnSpPr>
        <p:spPr>
          <a:xfrm>
            <a:off x="4282440" y="562903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465320" y="4800124"/>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UCI 파일 또는 합성 시뮬레이터</a:t>
            </a:r>
          </a:p>
        </p:txBody>
      </p:sp>
      <p:cxnSp>
        <p:nvCxnSpPr>
          <p:cNvPr id="32" name="Connector 31"/>
          <p:cNvCxnSpPr/>
          <p:nvPr/>
        </p:nvCxnSpPr>
        <p:spPr>
          <a:xfrm>
            <a:off x="7909560" y="5629037"/>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092440" y="4800124"/>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데이터가 보여 줄 수 있는 범위를 잘못 해석함</a:t>
            </a:r>
          </a:p>
        </p:txBody>
      </p:sp>
      <p:sp>
        <p:nvSpPr>
          <p:cNvPr id="34" name="TextBox 33"/>
          <p:cNvSpPr txBox="1"/>
          <p:nvPr/>
        </p:nvSpPr>
        <p:spPr>
          <a:xfrm>
            <a:off x="655320" y="585001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숫자에 </a:t>
            </a:r>
            <a:r>
              <a:rPr sz="1920" b="1">
                <a:solidFill>
                  <a:srgbClr val="007C78"/>
                </a:solidFill>
                <a:latin typeface="맑은 고딕"/>
              </a:rPr>
              <a:t>대상·단위·구간·출처</a:t>
            </a:r>
            <a:r>
              <a:rPr sz="1920" b="0">
                <a:solidFill>
                  <a:srgbClr val="162F36"/>
                </a:solidFill>
                <a:latin typeface="맑은 고딕"/>
              </a:rPr>
              <a:t>를 붙여야 관측을 설명할 수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데이터를 받아 판단 가능한 기록으로 만들기</a:t>
            </a:r>
          </a:p>
        </p:txBody>
      </p:sp>
      <p:sp>
        <p:nvSpPr>
          <p:cNvPr id="3" name="Rectangle 2"/>
          <p:cNvSpPr/>
          <p:nvPr/>
        </p:nvSpPr>
        <p:spPr>
          <a:xfrm>
            <a:off x="65532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820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역할</a:t>
            </a:r>
          </a:p>
        </p:txBody>
      </p:sp>
      <p:sp>
        <p:nvSpPr>
          <p:cNvPr id="5" name="Rectangle 4"/>
          <p:cNvSpPr/>
          <p:nvPr/>
        </p:nvSpPr>
        <p:spPr>
          <a:xfrm>
            <a:off x="428244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6532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입력</a:t>
            </a:r>
          </a:p>
        </p:txBody>
      </p:sp>
      <p:sp>
        <p:nvSpPr>
          <p:cNvPr id="7" name="Rectangle 6"/>
          <p:cNvSpPr/>
          <p:nvPr/>
        </p:nvSpPr>
        <p:spPr>
          <a:xfrm>
            <a:off x="790956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남는 결과</a:t>
            </a:r>
          </a:p>
        </p:txBody>
      </p:sp>
      <p:cxnSp>
        <p:nvCxnSpPr>
          <p:cNvPr id="9" name="Connector 8"/>
          <p:cNvCxnSpPr/>
          <p:nvPr/>
        </p:nvCxnSpPr>
        <p:spPr>
          <a:xfrm>
            <a:off x="655320" y="2576870"/>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8200" y="2093833"/>
            <a:ext cx="332232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데이터 수집·재생</a:t>
            </a:r>
          </a:p>
        </p:txBody>
      </p:sp>
      <p:cxnSp>
        <p:nvCxnSpPr>
          <p:cNvPr id="11" name="Connector 10"/>
          <p:cNvCxnSpPr/>
          <p:nvPr/>
        </p:nvCxnSpPr>
        <p:spPr>
          <a:xfrm>
            <a:off x="4282440" y="2576870"/>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65320" y="2093833"/>
            <a:ext cx="332232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센서 파일 또는 시뮬레이터</a:t>
            </a:r>
          </a:p>
        </p:txBody>
      </p:sp>
      <p:cxnSp>
        <p:nvCxnSpPr>
          <p:cNvPr id="13" name="Connector 12"/>
          <p:cNvCxnSpPr/>
          <p:nvPr/>
        </p:nvCxnSpPr>
        <p:spPr>
          <a:xfrm>
            <a:off x="7909560" y="2576870"/>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92440" y="2093833"/>
            <a:ext cx="332232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값과 시점·출처</a:t>
            </a:r>
          </a:p>
        </p:txBody>
      </p:sp>
      <p:cxnSp>
        <p:nvCxnSpPr>
          <p:cNvPr id="15" name="Connector 14"/>
          <p:cNvCxnSpPr/>
          <p:nvPr/>
        </p:nvCxnSpPr>
        <p:spPr>
          <a:xfrm>
            <a:off x="655320" y="317420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8200" y="2683550"/>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품질 확인</a:t>
            </a:r>
          </a:p>
        </p:txBody>
      </p:sp>
      <p:cxnSp>
        <p:nvCxnSpPr>
          <p:cNvPr id="17" name="Connector 16"/>
          <p:cNvCxnSpPr/>
          <p:nvPr/>
        </p:nvCxnSpPr>
        <p:spPr>
          <a:xfrm>
            <a:off x="4282440" y="317420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65320" y="2683550"/>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관측과 품질 규칙</a:t>
            </a:r>
          </a:p>
        </p:txBody>
      </p:sp>
      <p:cxnSp>
        <p:nvCxnSpPr>
          <p:cNvPr id="19" name="Connector 18"/>
          <p:cNvCxnSpPr/>
          <p:nvPr/>
        </p:nvCxnSpPr>
        <p:spPr>
          <a:xfrm>
            <a:off x="7909560" y="317420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92440" y="2683550"/>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사용 여부를 판단할 품질 정보</a:t>
            </a:r>
          </a:p>
        </p:txBody>
      </p:sp>
      <p:cxnSp>
        <p:nvCxnSpPr>
          <p:cNvPr id="21" name="Connector 20"/>
          <p:cNvCxnSpPr/>
          <p:nvPr/>
        </p:nvCxnSpPr>
        <p:spPr>
          <a:xfrm>
            <a:off x="655320" y="410979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8200" y="328088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저장·조회</a:t>
            </a:r>
          </a:p>
        </p:txBody>
      </p:sp>
      <p:cxnSp>
        <p:nvCxnSpPr>
          <p:cNvPr id="23" name="Connector 22"/>
          <p:cNvCxnSpPr/>
          <p:nvPr/>
        </p:nvCxnSpPr>
        <p:spPr>
          <a:xfrm>
            <a:off x="4282440" y="410979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328088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관측 레코드와 실행 정보</a:t>
            </a:r>
          </a:p>
        </p:txBody>
      </p:sp>
      <p:cxnSp>
        <p:nvCxnSpPr>
          <p:cNvPr id="25" name="Connector 24"/>
          <p:cNvCxnSpPr/>
          <p:nvPr/>
        </p:nvCxnSpPr>
        <p:spPr>
          <a:xfrm>
            <a:off x="7909560" y="410979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092440" y="328088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같은 실행·구간을 다시 찾을 수 있는 기록</a:t>
            </a:r>
          </a:p>
        </p:txBody>
      </p:sp>
      <p:sp>
        <p:nvSpPr>
          <p:cNvPr id="27" name="TextBox 26"/>
          <p:cNvSpPr txBox="1"/>
          <p:nvPr/>
        </p:nvSpPr>
        <p:spPr>
          <a:xfrm>
            <a:off x="655320" y="4330779"/>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품질OK는 </a:t>
            </a:r>
            <a:r>
              <a:rPr sz="1920" b="1">
                <a:solidFill>
                  <a:srgbClr val="007C78"/>
                </a:solidFill>
                <a:latin typeface="맑은 고딕"/>
              </a:rPr>
              <a:t>제공 센서 품질 규칙을 통과했다는 뜻</a:t>
            </a:r>
            <a:r>
              <a:rPr sz="1920" b="0">
                <a:solidFill>
                  <a:srgbClr val="162F36"/>
                </a:solidFill>
                <a:latin typeface="맑은 고딕"/>
              </a:rPr>
              <a:t>입니다. 설비 전체의 정상 판정은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설비 관계와 적용 문서</a:t>
            </a:r>
          </a:p>
        </p:txBody>
      </p:sp>
      <p:sp>
        <p:nvSpPr>
          <p:cNvPr id="3" name="TextBox 2"/>
          <p:cNvSpPr txBox="1"/>
          <p:nvPr/>
        </p:nvSpPr>
        <p:spPr>
          <a:xfrm>
            <a:off x="655320" y="138981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관측의 설비 ID → 그 설비의 센서·허용 조치 → 적용되는 현행 SOP</a:t>
            </a:r>
          </a:p>
        </p:txBody>
      </p:sp>
      <p:sp>
        <p:nvSpPr>
          <p:cNvPr id="4" name="TextBox 3"/>
          <p:cNvSpPr txBox="1"/>
          <p:nvPr/>
        </p:nvSpPr>
        <p:spPr>
          <a:xfrm>
            <a:off x="655320" y="1973461"/>
            <a:ext cx="10942320" cy="801529"/>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SOP는 작업 절차를 담은 문서입니다. 온도가 비슷해도 다른 설비의 절차를 그대로 적용할 수는 없습니다.</a:t>
            </a:r>
          </a:p>
        </p:txBody>
      </p:sp>
      <p:sp>
        <p:nvSpPr>
          <p:cNvPr id="5" name="Rectangle 4"/>
          <p:cNvSpPr/>
          <p:nvPr/>
        </p:nvSpPr>
        <p:spPr>
          <a:xfrm>
            <a:off x="655320" y="2950250"/>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3056930"/>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확인</a:t>
            </a:r>
          </a:p>
        </p:txBody>
      </p:sp>
      <p:sp>
        <p:nvSpPr>
          <p:cNvPr id="7" name="Rectangle 6"/>
          <p:cNvSpPr/>
          <p:nvPr/>
        </p:nvSpPr>
        <p:spPr>
          <a:xfrm>
            <a:off x="6096000" y="2950250"/>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78880" y="3056930"/>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판단에 필요한 이유</a:t>
            </a:r>
          </a:p>
        </p:txBody>
      </p:sp>
      <p:cxnSp>
        <p:nvCxnSpPr>
          <p:cNvPr id="9" name="Connector 8"/>
          <p:cNvCxnSpPr/>
          <p:nvPr/>
        </p:nvCxnSpPr>
        <p:spPr>
          <a:xfrm>
            <a:off x="655320" y="412206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8200" y="3639026"/>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어느 설비에 적용되는가</a:t>
            </a:r>
          </a:p>
        </p:txBody>
      </p:sp>
      <p:cxnSp>
        <p:nvCxnSpPr>
          <p:cNvPr id="11" name="Connector 10"/>
          <p:cNvCxnSpPr/>
          <p:nvPr/>
        </p:nvCxnSpPr>
        <p:spPr>
          <a:xfrm>
            <a:off x="6096000" y="412206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78880" y="3639026"/>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대상이 다르면 조치도 다를 수 있음</a:t>
            </a:r>
          </a:p>
        </p:txBody>
      </p:sp>
      <p:cxnSp>
        <p:nvCxnSpPr>
          <p:cNvPr id="13" name="Connector 12"/>
          <p:cNvCxnSpPr/>
          <p:nvPr/>
        </p:nvCxnSpPr>
        <p:spPr>
          <a:xfrm>
            <a:off x="655320" y="471939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8200" y="422874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현재 유효한 버전인가</a:t>
            </a:r>
          </a:p>
        </p:txBody>
      </p:sp>
      <p:cxnSp>
        <p:nvCxnSpPr>
          <p:cNvPr id="15" name="Connector 14"/>
          <p:cNvCxnSpPr/>
          <p:nvPr/>
        </p:nvCxnSpPr>
        <p:spPr>
          <a:xfrm>
            <a:off x="6096000" y="471939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78880" y="422874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폐기된 절차의 사용을 막음</a:t>
            </a:r>
          </a:p>
        </p:txBody>
      </p:sp>
      <p:cxnSp>
        <p:nvCxnSpPr>
          <p:cNvPr id="17" name="Connector 16"/>
          <p:cNvCxnSpPr/>
          <p:nvPr/>
        </p:nvCxnSpPr>
        <p:spPr>
          <a:xfrm>
            <a:off x="655320" y="531673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8200" y="4826079"/>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지금 사건에 해당하는가</a:t>
            </a:r>
          </a:p>
        </p:txBody>
      </p:sp>
      <p:cxnSp>
        <p:nvCxnSpPr>
          <p:cNvPr id="19" name="Connector 18"/>
          <p:cNvCxnSpPr/>
          <p:nvPr/>
        </p:nvCxnSpPr>
        <p:spPr>
          <a:xfrm>
            <a:off x="6096000" y="531673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78880" y="4826079"/>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센서 오류와 냉각 이상을 구분함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제안·승인·실행·회복</a:t>
            </a:r>
          </a:p>
        </p:txBody>
      </p:sp>
      <p:sp>
        <p:nvSpPr>
          <p:cNvPr id="3" name="Rectangle 2"/>
          <p:cNvSpPr/>
          <p:nvPr/>
        </p:nvSpPr>
        <p:spPr>
          <a:xfrm>
            <a:off x="65532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820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결과</a:t>
            </a:r>
          </a:p>
        </p:txBody>
      </p:sp>
      <p:sp>
        <p:nvSpPr>
          <p:cNvPr id="5" name="Rectangle 4"/>
          <p:cNvSpPr/>
          <p:nvPr/>
        </p:nvSpPr>
        <p:spPr>
          <a:xfrm>
            <a:off x="428244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6532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알 수 있는 것</a:t>
            </a:r>
          </a:p>
        </p:txBody>
      </p:sp>
      <p:sp>
        <p:nvSpPr>
          <p:cNvPr id="7" name="Rectangle 6"/>
          <p:cNvSpPr/>
          <p:nvPr/>
        </p:nvSpPr>
        <p:spPr>
          <a:xfrm>
            <a:off x="7909560" y="1405057"/>
            <a:ext cx="362712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511737"/>
            <a:ext cx="332232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다음 확인</a:t>
            </a:r>
          </a:p>
        </p:txBody>
      </p:sp>
      <p:cxnSp>
        <p:nvCxnSpPr>
          <p:cNvPr id="9" name="Connector 8"/>
          <p:cNvCxnSpPr/>
          <p:nvPr/>
        </p:nvCxnSpPr>
        <p:spPr>
          <a:xfrm>
            <a:off x="655320" y="291512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8200" y="2093833"/>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조치 제안</a:t>
            </a:r>
          </a:p>
        </p:txBody>
      </p:sp>
      <p:cxnSp>
        <p:nvCxnSpPr>
          <p:cNvPr id="11" name="Connector 10"/>
          <p:cNvCxnSpPr/>
          <p:nvPr/>
        </p:nvCxnSpPr>
        <p:spPr>
          <a:xfrm>
            <a:off x="4282440" y="291512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65320" y="2093833"/>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도구와 근거로 어떤 조치를 제시했는가</a:t>
            </a:r>
          </a:p>
        </p:txBody>
      </p:sp>
      <p:cxnSp>
        <p:nvCxnSpPr>
          <p:cNvPr id="13" name="Connector 12"/>
          <p:cNvCxnSpPr/>
          <p:nvPr/>
        </p:nvCxnSpPr>
        <p:spPr>
          <a:xfrm>
            <a:off x="7909560" y="291512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92440" y="2093833"/>
            <a:ext cx="3322320" cy="72985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적용 조건과 사람의 승인</a:t>
            </a:r>
          </a:p>
        </p:txBody>
      </p:sp>
      <p:cxnSp>
        <p:nvCxnSpPr>
          <p:cNvPr id="15" name="Connector 14"/>
          <p:cNvCxnSpPr/>
          <p:nvPr/>
        </p:nvCxnSpPr>
        <p:spPr>
          <a:xfrm>
            <a:off x="655320" y="385071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8200" y="302180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승인 기록</a:t>
            </a:r>
          </a:p>
        </p:txBody>
      </p:sp>
      <p:cxnSp>
        <p:nvCxnSpPr>
          <p:cNvPr id="17" name="Connector 16"/>
          <p:cNvCxnSpPr/>
          <p:nvPr/>
        </p:nvCxnSpPr>
        <p:spPr>
          <a:xfrm>
            <a:off x="4282440" y="385071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65320" y="302180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누가 어떤 조치와 값을 허용했는가</a:t>
            </a:r>
          </a:p>
        </p:txBody>
      </p:sp>
      <p:cxnSp>
        <p:nvCxnSpPr>
          <p:cNvPr id="19" name="Connector 18"/>
          <p:cNvCxnSpPr/>
          <p:nvPr/>
        </p:nvCxnSpPr>
        <p:spPr>
          <a:xfrm>
            <a:off x="7909560" y="385071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92440" y="302180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실행 조건과 실제 실행 결과</a:t>
            </a:r>
          </a:p>
        </p:txBody>
      </p:sp>
      <p:cxnSp>
        <p:nvCxnSpPr>
          <p:cNvPr id="21" name="Connector 20"/>
          <p:cNvCxnSpPr/>
          <p:nvPr/>
        </p:nvCxnSpPr>
        <p:spPr>
          <a:xfrm>
            <a:off x="655320" y="444805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38200" y="3957399"/>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명령 성공</a:t>
            </a:r>
          </a:p>
        </p:txBody>
      </p:sp>
      <p:cxnSp>
        <p:nvCxnSpPr>
          <p:cNvPr id="23" name="Connector 22"/>
          <p:cNvCxnSpPr/>
          <p:nvPr/>
        </p:nvCxnSpPr>
        <p:spPr>
          <a:xfrm>
            <a:off x="4282440" y="444805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3957399"/>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명령이 수행됐는가</a:t>
            </a:r>
          </a:p>
        </p:txBody>
      </p:sp>
      <p:cxnSp>
        <p:nvCxnSpPr>
          <p:cNvPr id="25" name="Connector 24"/>
          <p:cNvCxnSpPr/>
          <p:nvPr/>
        </p:nvCxnSpPr>
        <p:spPr>
          <a:xfrm>
            <a:off x="7909560" y="4448056"/>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092440" y="3957399"/>
            <a:ext cx="332232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조치 이후 새 관측</a:t>
            </a:r>
          </a:p>
        </p:txBody>
      </p:sp>
      <p:cxnSp>
        <p:nvCxnSpPr>
          <p:cNvPr id="27" name="Connector 26"/>
          <p:cNvCxnSpPr/>
          <p:nvPr/>
        </p:nvCxnSpPr>
        <p:spPr>
          <a:xfrm>
            <a:off x="655320" y="538364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38200" y="455473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회복 판단</a:t>
            </a:r>
          </a:p>
        </p:txBody>
      </p:sp>
      <p:cxnSp>
        <p:nvCxnSpPr>
          <p:cNvPr id="29" name="Connector 28"/>
          <p:cNvCxnSpPr/>
          <p:nvPr/>
        </p:nvCxnSpPr>
        <p:spPr>
          <a:xfrm>
            <a:off x="4282440" y="538364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465320" y="455473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새 관측이 회복 기준을 충족했는가</a:t>
            </a:r>
          </a:p>
        </p:txBody>
      </p:sp>
      <p:cxnSp>
        <p:nvCxnSpPr>
          <p:cNvPr id="31" name="Connector 30"/>
          <p:cNvCxnSpPr/>
          <p:nvPr/>
        </p:nvCxnSpPr>
        <p:spPr>
          <a:xfrm>
            <a:off x="7909560" y="5383649"/>
            <a:ext cx="362712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092440" y="4554736"/>
            <a:ext cx="332232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종결·추가 확인·이관</a:t>
            </a:r>
          </a:p>
        </p:txBody>
      </p:sp>
      <p:sp>
        <p:nvSpPr>
          <p:cNvPr id="33" name="TextBox 32"/>
          <p:cNvSpPr txBox="1"/>
          <p:nvPr/>
        </p:nvSpPr>
        <p:spPr>
          <a:xfrm>
            <a:off x="655320" y="5604629"/>
            <a:ext cx="10942320" cy="423624"/>
          </a:xfrm>
          <a:prstGeom prst="rect">
            <a:avLst/>
          </a:prstGeom>
          <a:noFill/>
        </p:spPr>
        <p:txBody>
          <a:bodyPr wrap="square" lIns="0" rIns="0" tIns="0" bIns="0" anchor="t">
            <a:spAutoFit/>
          </a:bodyPr>
          <a:lstStyle/>
          <a:p>
            <a:pPr algn="l">
              <a:lnSpc>
                <a:spcPts val="2976"/>
              </a:lnSpc>
            </a:pPr>
            <a:r>
              <a:rPr sz="1920" b="1">
                <a:solidFill>
                  <a:srgbClr val="007C78"/>
                </a:solidFill>
                <a:latin typeface="맑은 고딕"/>
              </a:rPr>
              <a:t>명령 성공만으로 회복을 선언하지 않습니다.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파일 재생과 시뮬레이터</a:t>
            </a:r>
          </a:p>
        </p:txBody>
      </p:sp>
      <p:sp>
        <p:nvSpPr>
          <p:cNvPr id="3" name="Rectangle 2"/>
          <p:cNvSpPr/>
          <p:nvPr/>
        </p:nvSpPr>
        <p:spPr>
          <a:xfrm>
            <a:off x="65532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820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UCI 파일 재생</a:t>
            </a:r>
          </a:p>
        </p:txBody>
      </p:sp>
      <p:sp>
        <p:nvSpPr>
          <p:cNvPr id="5" name="Rectangle 4"/>
          <p:cNvSpPr/>
          <p:nvPr/>
        </p:nvSpPr>
        <p:spPr>
          <a:xfrm>
            <a:off x="609600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7888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교육용 합성 시뮬레이터</a:t>
            </a:r>
          </a:p>
        </p:txBody>
      </p:sp>
      <p:cxnSp>
        <p:nvCxnSpPr>
          <p:cNvPr id="7" name="Connector 6"/>
          <p:cNvCxnSpPr/>
          <p:nvPr/>
        </p:nvCxnSpPr>
        <p:spPr>
          <a:xfrm>
            <a:off x="65532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3820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수집된 센서값을 다시 읽음</a:t>
            </a:r>
          </a:p>
        </p:txBody>
      </p:sp>
      <p:cxnSp>
        <p:nvCxnSpPr>
          <p:cNvPr id="9" name="Connector 8"/>
          <p:cNvCxnSpPr/>
          <p:nvPr/>
        </p:nvCxnSpPr>
        <p:spPr>
          <a:xfrm>
            <a:off x="609600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7888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프로그램의 상태로 새 값을 생성</a:t>
            </a:r>
          </a:p>
        </p:txBody>
      </p:sp>
      <p:cxnSp>
        <p:nvCxnSpPr>
          <p:cNvPr id="11" name="Connector 10"/>
          <p:cNvCxnSpPr/>
          <p:nvPr/>
        </p:nvCxnSpPr>
        <p:spPr>
          <a:xfrm>
            <a:off x="65532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820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원본 사이클·위치로 추적</a:t>
            </a:r>
          </a:p>
        </p:txBody>
      </p:sp>
      <p:cxnSp>
        <p:nvCxnSpPr>
          <p:cNvPr id="13" name="Connector 12"/>
          <p:cNvCxnSpPr/>
          <p:nvPr/>
        </p:nvCxnSpPr>
        <p:spPr>
          <a:xfrm>
            <a:off x="609600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7888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실행 ID·상태·조치 시점으로 추적</a:t>
            </a:r>
          </a:p>
        </p:txBody>
      </p:sp>
      <p:cxnSp>
        <p:nvCxnSpPr>
          <p:cNvPr id="15" name="Connector 14"/>
          <p:cNvCxnSpPr/>
          <p:nvPr/>
        </p:nvCxnSpPr>
        <p:spPr>
          <a:xfrm>
            <a:off x="65532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820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조치해도 과거 파일값은 바뀌지 않음</a:t>
            </a:r>
          </a:p>
        </p:txBody>
      </p:sp>
      <p:cxnSp>
        <p:nvCxnSpPr>
          <p:cNvPr id="17" name="Connector 16"/>
          <p:cNvCxnSpPr/>
          <p:nvPr/>
        </p:nvCxnSpPr>
        <p:spPr>
          <a:xfrm>
            <a:off x="609600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7888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구현된 조치가 이후 생성값에 영향을 줄 수 있음</a:t>
            </a:r>
          </a:p>
        </p:txBody>
      </p:sp>
      <p:cxnSp>
        <p:nvCxnSpPr>
          <p:cNvPr id="19" name="Connector 18"/>
          <p:cNvCxnSpPr/>
          <p:nvPr/>
        </p:nvCxnSpPr>
        <p:spPr>
          <a:xfrm>
            <a:off x="65532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820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읽기·집계·출처 추적을 확인</a:t>
            </a:r>
          </a:p>
        </p:txBody>
      </p:sp>
      <p:cxnSp>
        <p:nvCxnSpPr>
          <p:cNvPr id="21" name="Connector 20"/>
          <p:cNvCxnSpPr/>
          <p:nvPr/>
        </p:nvCxnSpPr>
        <p:spPr>
          <a:xfrm>
            <a:off x="609600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7888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승인·조치·재측정의 연결을 확인</a:t>
            </a:r>
          </a:p>
        </p:txBody>
      </p:sp>
      <p:sp>
        <p:nvSpPr>
          <p:cNvPr id="23" name="TextBox 22"/>
          <p:cNvSpPr txBox="1"/>
          <p:nvPr/>
        </p:nvSpPr>
        <p:spPr>
          <a:xfrm>
            <a:off x="655320" y="4589859"/>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시뮬레이터 결과는 해당 교육용 모델의 결과입니다. 실제 공장의 효과로 일반화하지 않습니다.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제공 스택과 학생의 역할</a:t>
            </a:r>
          </a:p>
        </p:txBody>
      </p:sp>
      <p:sp>
        <p:nvSpPr>
          <p:cNvPr id="3" name="Rectangle 2"/>
          <p:cNvSpPr/>
          <p:nvPr/>
        </p:nvSpPr>
        <p:spPr>
          <a:xfrm>
            <a:off x="65532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820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도구·시스템</a:t>
            </a:r>
          </a:p>
        </p:txBody>
      </p:sp>
      <p:sp>
        <p:nvSpPr>
          <p:cNvPr id="5" name="Rectangle 4"/>
          <p:cNvSpPr/>
          <p:nvPr/>
        </p:nvSpPr>
        <p:spPr>
          <a:xfrm>
            <a:off x="609600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7888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맡는 일</a:t>
            </a:r>
          </a:p>
        </p:txBody>
      </p:sp>
      <p:cxnSp>
        <p:nvCxnSpPr>
          <p:cNvPr id="7" name="Connector 6"/>
          <p:cNvCxnSpPr/>
          <p:nvPr/>
        </p:nvCxnSpPr>
        <p:spPr>
          <a:xfrm>
            <a:off x="65532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3820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Python</a:t>
            </a:r>
          </a:p>
        </p:txBody>
      </p:sp>
      <p:cxnSp>
        <p:nvCxnSpPr>
          <p:cNvPr id="9" name="Connector 8"/>
          <p:cNvCxnSpPr/>
          <p:nvPr/>
        </p:nvCxnSpPr>
        <p:spPr>
          <a:xfrm>
            <a:off x="609600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7888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데이터를 읽고 처리하는 동작을 코드로 표현</a:t>
            </a:r>
          </a:p>
        </p:txBody>
      </p:sp>
      <p:cxnSp>
        <p:nvCxnSpPr>
          <p:cNvPr id="11" name="Connector 10"/>
          <p:cNvCxnSpPr/>
          <p:nvPr/>
        </p:nvCxnSpPr>
        <p:spPr>
          <a:xfrm>
            <a:off x="65532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820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PostgreSQL</a:t>
            </a:r>
          </a:p>
        </p:txBody>
      </p:sp>
      <p:cxnSp>
        <p:nvCxnSpPr>
          <p:cNvPr id="13" name="Connector 12"/>
          <p:cNvCxnSpPr/>
          <p:nvPr/>
        </p:nvCxnSpPr>
        <p:spPr>
          <a:xfrm>
            <a:off x="609600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7888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관측과 실행·사건 등 기록 저장</a:t>
            </a:r>
          </a:p>
        </p:txBody>
      </p:sp>
      <p:cxnSp>
        <p:nvCxnSpPr>
          <p:cNvPr id="15" name="Connector 14"/>
          <p:cNvCxnSpPr/>
          <p:nvPr/>
        </p:nvCxnSpPr>
        <p:spPr>
          <a:xfrm>
            <a:off x="65532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820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Neo4j</a:t>
            </a:r>
          </a:p>
        </p:txBody>
      </p:sp>
      <p:cxnSp>
        <p:nvCxnSpPr>
          <p:cNvPr id="17" name="Connector 16"/>
          <p:cNvCxnSpPr/>
          <p:nvPr/>
        </p:nvCxnSpPr>
        <p:spPr>
          <a:xfrm>
            <a:off x="609600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7888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설비와 문서 등의 관계 조회</a:t>
            </a:r>
          </a:p>
        </p:txBody>
      </p:sp>
      <p:cxnSp>
        <p:nvCxnSpPr>
          <p:cNvPr id="19" name="Connector 18"/>
          <p:cNvCxnSpPr/>
          <p:nvPr/>
        </p:nvCxnSpPr>
        <p:spPr>
          <a:xfrm>
            <a:off x="65532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820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에이전트와 업무 흐름</a:t>
            </a:r>
          </a:p>
        </p:txBody>
      </p:sp>
      <p:cxnSp>
        <p:nvCxnSpPr>
          <p:cNvPr id="21" name="Connector 20"/>
          <p:cNvCxnSpPr/>
          <p:nvPr/>
        </p:nvCxnSpPr>
        <p:spPr>
          <a:xfrm>
            <a:off x="609600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7888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도구를 통한 제안과 승인·실행 연결</a:t>
            </a:r>
          </a:p>
        </p:txBody>
      </p:sp>
      <p:cxnSp>
        <p:nvCxnSpPr>
          <p:cNvPr id="23" name="Connector 22"/>
          <p:cNvCxnSpPr/>
          <p:nvPr/>
        </p:nvCxnSpPr>
        <p:spPr>
          <a:xfrm>
            <a:off x="655320" y="496621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38200" y="4475559"/>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관제 화면</a:t>
            </a:r>
          </a:p>
        </p:txBody>
      </p:sp>
      <p:cxnSp>
        <p:nvCxnSpPr>
          <p:cNvPr id="25" name="Connector 24"/>
          <p:cNvCxnSpPr/>
          <p:nvPr/>
        </p:nvCxnSpPr>
        <p:spPr>
          <a:xfrm>
            <a:off x="6096000" y="496621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278880" y="4475559"/>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결과와 근거 확인</a:t>
            </a:r>
          </a:p>
        </p:txBody>
      </p:sp>
      <p:sp>
        <p:nvSpPr>
          <p:cNvPr id="27" name="TextBox 26"/>
          <p:cNvSpPr txBox="1"/>
          <p:nvPr/>
        </p:nvSpPr>
        <p:spPr>
          <a:xfrm>
            <a:off x="655320" y="5187196"/>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코딩 에이전트: 설치·구현·연결·검사 실행</a:t>
            </a:r>
          </a:p>
        </p:txBody>
      </p:sp>
      <p:sp>
        <p:nvSpPr>
          <p:cNvPr id="28" name="TextBox 27"/>
          <p:cNvSpPr txBox="1"/>
          <p:nvPr/>
        </p:nvSpPr>
        <p:spPr>
          <a:xfrm>
            <a:off x="655320" y="5770840"/>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학생: </a:t>
            </a:r>
            <a:r>
              <a:rPr sz="1920" b="1">
                <a:solidFill>
                  <a:srgbClr val="007C78"/>
                </a:solidFill>
                <a:latin typeface="맑은 고딕"/>
              </a:rPr>
              <a:t>목적과 요구를 정하고, 실제 결과를 읽어 수용 여부 판단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구현을 맡길 때 필요한 요구</a:t>
            </a:r>
          </a:p>
        </p:txBody>
      </p:sp>
      <p:sp>
        <p:nvSpPr>
          <p:cNvPr id="3" name="TextBox 2"/>
          <p:cNvSpPr txBox="1"/>
          <p:nvPr/>
        </p:nvSpPr>
        <p:spPr>
          <a:xfrm>
            <a:off x="655320" y="138981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‘온도 그래프를 만들어 줘’에 추가할 조건</a:t>
            </a:r>
          </a:p>
        </p:txBody>
      </p:sp>
      <p:sp>
        <p:nvSpPr>
          <p:cNvPr id="4" name="Rectangle 3"/>
          <p:cNvSpPr/>
          <p:nvPr/>
        </p:nvSpPr>
        <p:spPr>
          <a:xfrm>
            <a:off x="655320" y="1988701"/>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200" y="2095381"/>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항목</a:t>
            </a:r>
          </a:p>
        </p:txBody>
      </p:sp>
      <p:sp>
        <p:nvSpPr>
          <p:cNvPr id="6" name="Rectangle 5"/>
          <p:cNvSpPr/>
          <p:nvPr/>
        </p:nvSpPr>
        <p:spPr>
          <a:xfrm>
            <a:off x="6096000" y="1988701"/>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78880" y="2095381"/>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요구 예시</a:t>
            </a:r>
          </a:p>
        </p:txBody>
      </p:sp>
      <p:cxnSp>
        <p:nvCxnSpPr>
          <p:cNvPr id="8" name="Connector 7"/>
          <p:cNvCxnSpPr/>
          <p:nvPr/>
        </p:nvCxnSpPr>
        <p:spPr>
          <a:xfrm>
            <a:off x="655320" y="3160514"/>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38200" y="2677478"/>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목적</a:t>
            </a:r>
          </a:p>
        </p:txBody>
      </p:sp>
      <p:cxnSp>
        <p:nvCxnSpPr>
          <p:cNvPr id="10" name="Connector 9"/>
          <p:cNvCxnSpPr/>
          <p:nvPr/>
        </p:nvCxnSpPr>
        <p:spPr>
          <a:xfrm>
            <a:off x="6096000" y="3160514"/>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78880" y="2677478"/>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표시된 값을 원본에서 찾을 수 있게 한다</a:t>
            </a:r>
          </a:p>
        </p:txBody>
      </p:sp>
      <p:cxnSp>
        <p:nvCxnSpPr>
          <p:cNvPr id="12" name="Connector 11"/>
          <p:cNvCxnSpPr/>
          <p:nvPr/>
        </p:nvCxnSpPr>
        <p:spPr>
          <a:xfrm>
            <a:off x="655320" y="3757851"/>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8200" y="3267194"/>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입력</a:t>
            </a:r>
          </a:p>
        </p:txBody>
      </p:sp>
      <p:cxnSp>
        <p:nvCxnSpPr>
          <p:cNvPr id="14" name="Connector 13"/>
          <p:cNvCxnSpPr/>
          <p:nvPr/>
        </p:nvCxnSpPr>
        <p:spPr>
          <a:xfrm>
            <a:off x="6096000" y="3757851"/>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78880" y="3267194"/>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지정한 UCI 사이클의 TS1 관측</a:t>
            </a:r>
          </a:p>
        </p:txBody>
      </p:sp>
      <p:cxnSp>
        <p:nvCxnSpPr>
          <p:cNvPr id="16" name="Connector 15"/>
          <p:cNvCxnSpPr/>
          <p:nvPr/>
        </p:nvCxnSpPr>
        <p:spPr>
          <a:xfrm>
            <a:off x="655320" y="4693444"/>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38200" y="3864531"/>
            <a:ext cx="513588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동작</a:t>
            </a:r>
          </a:p>
        </p:txBody>
      </p:sp>
      <p:cxnSp>
        <p:nvCxnSpPr>
          <p:cNvPr id="18" name="Connector 17"/>
          <p:cNvCxnSpPr/>
          <p:nvPr/>
        </p:nvCxnSpPr>
        <p:spPr>
          <a:xfrm>
            <a:off x="6096000" y="4693444"/>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78880" y="3864531"/>
            <a:ext cx="5135880" cy="737473"/>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경과 초별 온도를 표시하고 원본 위치를 함께 남긴다</a:t>
            </a:r>
          </a:p>
        </p:txBody>
      </p:sp>
      <p:cxnSp>
        <p:nvCxnSpPr>
          <p:cNvPr id="20" name="Connector 19"/>
          <p:cNvCxnSpPr/>
          <p:nvPr/>
        </p:nvCxnSpPr>
        <p:spPr>
          <a:xfrm>
            <a:off x="655320" y="529078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38200" y="4800124"/>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확인 기준</a:t>
            </a:r>
          </a:p>
        </p:txBody>
      </p:sp>
      <p:cxnSp>
        <p:nvCxnSpPr>
          <p:cNvPr id="22" name="Connector 21"/>
          <p:cNvCxnSpPr/>
          <p:nvPr/>
        </p:nvCxnSpPr>
        <p:spPr>
          <a:xfrm>
            <a:off x="6096000" y="529078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78880" y="4800124"/>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단위·사이클·경과 초가 원본과 일치해야 한다</a:t>
            </a:r>
          </a:p>
        </p:txBody>
      </p:sp>
      <p:sp>
        <p:nvSpPr>
          <p:cNvPr id="24" name="TextBox 23"/>
          <p:cNvSpPr txBox="1"/>
          <p:nvPr/>
        </p:nvSpPr>
        <p:spPr>
          <a:xfrm>
            <a:off x="655320" y="5511760"/>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SDD: 구현 전에 필요한 동작과 확인 기준을 명세로 정리하는 방식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이해 확인</a:t>
            </a:r>
          </a:p>
        </p:txBody>
      </p:sp>
      <p:sp>
        <p:nvSpPr>
          <p:cNvPr id="3" name="TextBox 2"/>
          <p:cNvSpPr txBox="1"/>
          <p:nvPr/>
        </p:nvSpPr>
        <p:spPr>
          <a:xfrm>
            <a:off x="655320" y="1389817"/>
            <a:ext cx="10942320" cy="801529"/>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1. 부하 감소 뒤 과거 UCI 파일을 다시 읽었습니다. 온도가 내려간 구간이 보이면 이번 조치의 효과라고 할 수 있을까요?</a:t>
            </a:r>
          </a:p>
        </p:txBody>
      </p:sp>
      <p:sp>
        <p:nvSpPr>
          <p:cNvPr id="4" name="TextBox 3"/>
          <p:cNvSpPr txBox="1"/>
          <p:nvPr/>
        </p:nvSpPr>
        <p:spPr>
          <a:xfrm>
            <a:off x="655320" y="2351365"/>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2. 에이전트가 ‘승인받았다’고 답했습니다. 실제 실행 전에 어떤 기록을 확인해야 할까요?</a:t>
            </a:r>
          </a:p>
        </p:txBody>
      </p:sp>
      <p:sp>
        <p:nvSpPr>
          <p:cNvPr id="5" name="TextBox 4"/>
          <p:cNvSpPr txBox="1"/>
          <p:nvPr/>
        </p:nvSpPr>
        <p:spPr>
          <a:xfrm>
            <a:off x="655320" y="2935010"/>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3. 품질OK인 높은 온도가 보입니다. 센서 품질 확인 다음에는 무엇을 확인해야 할까요?</a:t>
            </a:r>
          </a:p>
        </p:txBody>
      </p:sp>
      <p:sp>
        <p:nvSpPr>
          <p:cNvPr id="6" name="TextBox 5"/>
          <p:cNvSpPr txBox="1"/>
          <p:nvPr/>
        </p:nvSpPr>
        <p:spPr>
          <a:xfrm>
            <a:off x="655320" y="3518654"/>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판단 이유를 생각한 뒤 해설과 비교합니다.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결과를 수용할 근거</a:t>
            </a:r>
          </a:p>
        </p:txBody>
      </p:sp>
      <p:sp>
        <p:nvSpPr>
          <p:cNvPr id="3" name="Rectangle 2"/>
          <p:cNvSpPr/>
          <p:nvPr/>
        </p:nvSpPr>
        <p:spPr>
          <a:xfrm>
            <a:off x="65532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820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출력</a:t>
            </a:r>
          </a:p>
        </p:txBody>
      </p:sp>
      <p:sp>
        <p:nvSpPr>
          <p:cNvPr id="5" name="Rectangle 4"/>
          <p:cNvSpPr/>
          <p:nvPr/>
        </p:nvSpPr>
        <p:spPr>
          <a:xfrm>
            <a:off x="6096000" y="1405057"/>
            <a:ext cx="5440680" cy="582097"/>
          </a:xfrm>
          <a:prstGeom prst="rect">
            <a:avLst/>
          </a:prstGeom>
          <a:solidFill>
            <a:srgbClr val="133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78880" y="1511737"/>
            <a:ext cx="5135880" cy="383977"/>
          </a:xfrm>
          <a:prstGeom prst="rect">
            <a:avLst/>
          </a:prstGeom>
          <a:noFill/>
        </p:spPr>
        <p:txBody>
          <a:bodyPr wrap="square" lIns="0" rIns="0" tIns="0" bIns="0" anchor="t">
            <a:spAutoFit/>
          </a:bodyPr>
          <a:lstStyle/>
          <a:p>
            <a:pPr algn="l">
              <a:lnSpc>
                <a:spcPts val="2663"/>
              </a:lnSpc>
            </a:pPr>
            <a:r>
              <a:rPr sz="1800" b="1">
                <a:solidFill>
                  <a:srgbClr val="FFFFFF"/>
                </a:solidFill>
                <a:latin typeface="맑은 고딕"/>
              </a:rPr>
              <a:t>수용 전에 확인할 것</a:t>
            </a:r>
          </a:p>
        </p:txBody>
      </p:sp>
      <p:cxnSp>
        <p:nvCxnSpPr>
          <p:cNvPr id="7" name="Connector 6"/>
          <p:cNvCxnSpPr/>
          <p:nvPr/>
        </p:nvCxnSpPr>
        <p:spPr>
          <a:xfrm>
            <a:off x="65532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3820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온도 곡선만 있음</a:t>
            </a:r>
          </a:p>
        </p:txBody>
      </p:sp>
      <p:cxnSp>
        <p:nvCxnSpPr>
          <p:cNvPr id="9" name="Connector 8"/>
          <p:cNvCxnSpPr/>
          <p:nvPr/>
        </p:nvCxnSpPr>
        <p:spPr>
          <a:xfrm>
            <a:off x="6096000" y="2576870"/>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78880" y="2093833"/>
            <a:ext cx="5135880" cy="39159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대상·단위·원본 위치·시간축</a:t>
            </a:r>
          </a:p>
        </p:txBody>
      </p:sp>
      <p:cxnSp>
        <p:nvCxnSpPr>
          <p:cNvPr id="11" name="Connector 10"/>
          <p:cNvCxnSpPr/>
          <p:nvPr/>
        </p:nvCxnSpPr>
        <p:spPr>
          <a:xfrm>
            <a:off x="65532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820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‘테스트 통과’라는 보고만 있음</a:t>
            </a:r>
          </a:p>
        </p:txBody>
      </p:sp>
      <p:cxnSp>
        <p:nvCxnSpPr>
          <p:cNvPr id="13" name="Connector 12"/>
          <p:cNvCxnSpPr/>
          <p:nvPr/>
        </p:nvCxnSpPr>
        <p:spPr>
          <a:xfrm>
            <a:off x="6096000" y="3174206"/>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78880" y="2683550"/>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어떤 입력과 조건을 검사했는지, 실제 출력</a:t>
            </a:r>
          </a:p>
        </p:txBody>
      </p:sp>
      <p:cxnSp>
        <p:nvCxnSpPr>
          <p:cNvPr id="15" name="Connector 14"/>
          <p:cNvCxnSpPr/>
          <p:nvPr/>
        </p:nvCxnSpPr>
        <p:spPr>
          <a:xfrm>
            <a:off x="65532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820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과거 파일에서 온도가 하락함</a:t>
            </a:r>
          </a:p>
        </p:txBody>
      </p:sp>
      <p:cxnSp>
        <p:nvCxnSpPr>
          <p:cNvPr id="17" name="Connector 16"/>
          <p:cNvCxnSpPr/>
          <p:nvPr/>
        </p:nvCxnSpPr>
        <p:spPr>
          <a:xfrm>
            <a:off x="6096000" y="3771543"/>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78880" y="3280886"/>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이번 조치 뒤 생성된 관측인지</a:t>
            </a:r>
          </a:p>
        </p:txBody>
      </p:sp>
      <p:cxnSp>
        <p:nvCxnSpPr>
          <p:cNvPr id="19" name="Connector 18"/>
          <p:cNvCxnSpPr/>
          <p:nvPr/>
        </p:nvCxnSpPr>
        <p:spPr>
          <a:xfrm>
            <a:off x="65532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820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‘승인 완료’라는 문장만 있음</a:t>
            </a:r>
          </a:p>
        </p:txBody>
      </p:sp>
      <p:cxnSp>
        <p:nvCxnSpPr>
          <p:cNvPr id="21" name="Connector 20"/>
          <p:cNvCxnSpPr/>
          <p:nvPr/>
        </p:nvCxnSpPr>
        <p:spPr>
          <a:xfrm>
            <a:off x="6096000" y="4368879"/>
            <a:ext cx="5440680" cy="0"/>
          </a:xfrm>
          <a:prstGeom prst="line">
            <a:avLst/>
          </a:prstGeom>
          <a:ln w="15240">
            <a:solidFill>
              <a:srgbClr val="CEDAD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78880" y="3878223"/>
            <a:ext cx="5135880" cy="399217"/>
          </a:xfrm>
          <a:prstGeom prst="rect">
            <a:avLst/>
          </a:prstGeom>
          <a:noFill/>
        </p:spPr>
        <p:txBody>
          <a:bodyPr wrap="square" lIns="0" rIns="0" tIns="0" bIns="0" anchor="t">
            <a:spAutoFit/>
          </a:bodyPr>
          <a:lstStyle/>
          <a:p>
            <a:pPr algn="l">
              <a:lnSpc>
                <a:spcPts val="2663"/>
              </a:lnSpc>
            </a:pPr>
            <a:r>
              <a:rPr sz="1800" b="0">
                <a:solidFill>
                  <a:srgbClr val="162F36"/>
                </a:solidFill>
                <a:latin typeface="맑은 고딕"/>
              </a:rPr>
              <a:t>해당 사건·조치·값에 대한 실제 승인 기록</a:t>
            </a:r>
          </a:p>
        </p:txBody>
      </p:sp>
      <p:sp>
        <p:nvSpPr>
          <p:cNvPr id="23" name="TextBox 22"/>
          <p:cNvSpPr txBox="1"/>
          <p:nvPr/>
        </p:nvSpPr>
        <p:spPr>
          <a:xfrm>
            <a:off x="655320" y="4589859"/>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결과가 요구에 맞으면 수용합니다. 부족하면 빠진 조건과 관찰 결과를 들어 수정을 요청합니다.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655320" y="518160"/>
            <a:ext cx="10942320" cy="612577"/>
          </a:xfrm>
          <a:prstGeom prst="rect">
            <a:avLst/>
          </a:prstGeom>
          <a:noFill/>
        </p:spPr>
        <p:txBody>
          <a:bodyPr wrap="square" lIns="0" rIns="0" tIns="0" bIns="0" anchor="t">
            <a:spAutoFit/>
          </a:bodyPr>
          <a:lstStyle/>
          <a:p>
            <a:pPr algn="l">
              <a:lnSpc>
                <a:spcPts val="4464"/>
              </a:lnSpc>
            </a:pPr>
            <a:r>
              <a:rPr sz="3720" b="1">
                <a:solidFill>
                  <a:srgbClr val="133B43"/>
                </a:solidFill>
                <a:latin typeface="맑은 고딕"/>
              </a:rPr>
              <a:t>다음 판단의 출발점</a:t>
            </a:r>
          </a:p>
        </p:txBody>
      </p:sp>
      <p:sp>
        <p:nvSpPr>
          <p:cNvPr id="3" name="TextBox 2"/>
          <p:cNvSpPr txBox="1"/>
          <p:nvPr/>
        </p:nvSpPr>
        <p:spPr>
          <a:xfrm>
            <a:off x="655320" y="1389817"/>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관측에는 대상·단위·시간·출처를 남깁니다.</a:t>
            </a:r>
          </a:p>
        </p:txBody>
      </p:sp>
      <p:sp>
        <p:nvSpPr>
          <p:cNvPr id="4" name="TextBox 3"/>
          <p:cNvSpPr txBox="1"/>
          <p:nvPr/>
        </p:nvSpPr>
        <p:spPr>
          <a:xfrm>
            <a:off x="655320" y="1973461"/>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제안에는 적용 근거를, 실행에는 승인을, 회복 판단에는 새 관측을 확인합니다.</a:t>
            </a:r>
          </a:p>
        </p:txBody>
      </p:sp>
      <p:sp>
        <p:nvSpPr>
          <p:cNvPr id="5" name="TextBox 4"/>
          <p:cNvSpPr txBox="1"/>
          <p:nvPr/>
        </p:nvSpPr>
        <p:spPr>
          <a:xfrm>
            <a:off x="655320" y="2557105"/>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학생은 제공 스택을 직접 사용하고 </a:t>
            </a:r>
            <a:r>
              <a:rPr sz="1920" b="1">
                <a:solidFill>
                  <a:srgbClr val="007C78"/>
                </a:solidFill>
                <a:latin typeface="맑은 고딕"/>
              </a:rPr>
              <a:t>요구와 결과를 대조</a:t>
            </a:r>
            <a:r>
              <a:rPr sz="1920" b="0">
                <a:solidFill>
                  <a:srgbClr val="162F36"/>
                </a:solidFill>
                <a:latin typeface="맑은 고딕"/>
              </a:rPr>
              <a:t>합니다.</a:t>
            </a:r>
          </a:p>
        </p:txBody>
      </p:sp>
      <p:sp>
        <p:nvSpPr>
          <p:cNvPr id="6" name="TextBox 5"/>
          <p:cNvSpPr txBox="1"/>
          <p:nvPr/>
        </p:nvSpPr>
        <p:spPr>
          <a:xfrm>
            <a:off x="655320" y="3140750"/>
            <a:ext cx="10942320" cy="423624"/>
          </a:xfrm>
          <a:prstGeom prst="rect">
            <a:avLst/>
          </a:prstGeom>
          <a:noFill/>
        </p:spPr>
        <p:txBody>
          <a:bodyPr wrap="square" lIns="0" rIns="0" tIns="0" bIns="0" anchor="t">
            <a:spAutoFit/>
          </a:bodyPr>
          <a:lstStyle/>
          <a:p>
            <a:pPr algn="l">
              <a:lnSpc>
                <a:spcPts val="2976"/>
              </a:lnSpc>
            </a:pPr>
            <a:r>
              <a:rPr sz="1920" b="0">
                <a:solidFill>
                  <a:srgbClr val="162F36"/>
                </a:solidFill>
                <a:latin typeface="맑은 고딕"/>
              </a:rPr>
              <a:t>다음 영상: 센서값과 단위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