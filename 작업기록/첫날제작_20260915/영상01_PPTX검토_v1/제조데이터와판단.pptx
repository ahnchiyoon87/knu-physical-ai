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3879413" cy="5532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냉각 이상 대응의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73773" y="518160"/>
            <a:ext cx="7123867" cy="8015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관측 → 품질 확인·저장 → 이상 사건 → 적용 근거 → 조치 제안 → 사람 승인 → 조치 → 새 관측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3773" y="1479709"/>
            <a:ext cx="7123867" cy="8015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1">
                <a:solidFill>
                  <a:srgbClr val="007C78"/>
                </a:solidFill>
                <a:latin typeface="맑은 고딕"/>
              </a:rPr>
              <a:t>이번 영상의 목표: 각 단계가 무엇을 확인하며, 학생이 어떤 결과를 판단하는지 설명하기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39058" cy="5532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온도53°C만으로 알 수 없는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33418" y="518160"/>
            <a:ext cx="9964222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설명용 예시입니다.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3418" y="1117044"/>
            <a:ext cx="3301008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16298" y="1223724"/>
            <a:ext cx="2996208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확인할 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4426" y="1117044"/>
            <a:ext cx="3301008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7306" y="1223724"/>
            <a:ext cx="2996208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예시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8235434" y="1117044"/>
            <a:ext cx="3301246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8314" y="1223724"/>
            <a:ext cx="2996446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빠지면 생기는 문제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33418" y="2627114"/>
            <a:ext cx="3301008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16298" y="1805821"/>
            <a:ext cx="2996208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대상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34426" y="2627114"/>
            <a:ext cx="3301008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17306" y="1805821"/>
            <a:ext cx="2996208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HYD-01의 TS1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35434" y="2627114"/>
            <a:ext cx="330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8314" y="1805821"/>
            <a:ext cx="2996446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다른 설비의 값을 판단할 수 있음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33418" y="3224451"/>
            <a:ext cx="3301008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16298" y="2733794"/>
            <a:ext cx="2996208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단위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4426" y="3224451"/>
            <a:ext cx="3301008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17306" y="2733794"/>
            <a:ext cx="2996208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°C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35434" y="3224451"/>
            <a:ext cx="330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8314" y="2733794"/>
            <a:ext cx="299644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서로 다른 측정량을 혼동함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33418" y="3821787"/>
            <a:ext cx="3301008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16298" y="3331131"/>
            <a:ext cx="2996208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구간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34426" y="3821787"/>
            <a:ext cx="3301008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17306" y="3331131"/>
            <a:ext cx="2996208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특정 사이클의 경과30초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35434" y="3821787"/>
            <a:ext cx="330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8314" y="3331131"/>
            <a:ext cx="299644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이전 값과 현재 값을 혼동함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33418" y="4757380"/>
            <a:ext cx="3301008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16298" y="3928467"/>
            <a:ext cx="2996208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출처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934426" y="4757380"/>
            <a:ext cx="3301008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17306" y="3928467"/>
            <a:ext cx="2996208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UCI 파일 또는 합성 시뮬레이터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35434" y="4757380"/>
            <a:ext cx="330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18314" y="3928467"/>
            <a:ext cx="2996446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데이터가 보여 줄 수 있는 범위를 잘못 해석함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33418" y="4978360"/>
            <a:ext cx="9964222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숫자에 </a:t>
            </a:r>
            <a:r>
              <a:rPr sz="1920" b="1">
                <a:solidFill>
                  <a:srgbClr val="007C78"/>
                </a:solidFill>
                <a:latin typeface="맑은 고딕"/>
              </a:rPr>
              <a:t>대상·단위·구간·출처</a:t>
            </a:r>
            <a:r>
              <a:rPr sz="1920" b="0">
                <a:solidFill>
                  <a:srgbClr val="162F36"/>
                </a:solidFill>
                <a:latin typeface="맑은 고딕"/>
              </a:rPr>
              <a:t>를 붙여야 관측을 설명할 수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519708" cy="5532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데이터를 받아 판단 가능한 기록으로 만들기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4068" y="533400"/>
            <a:ext cx="3474125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6948" y="640080"/>
            <a:ext cx="3169325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역할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88192" y="533400"/>
            <a:ext cx="3474125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71072" y="640080"/>
            <a:ext cx="3169325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입력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8062317" y="533400"/>
            <a:ext cx="3474363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5197" y="640080"/>
            <a:ext cx="3169563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남는 결과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14068" y="1705213"/>
            <a:ext cx="3474124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6948" y="1222177"/>
            <a:ext cx="3169325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데이터 수집·재생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88192" y="1705213"/>
            <a:ext cx="3474125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71072" y="1222177"/>
            <a:ext cx="3169325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센서 파일 또는 시뮬레이터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62317" y="1705213"/>
            <a:ext cx="3474363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45197" y="1222177"/>
            <a:ext cx="3169563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값과 시점·출처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14068" y="2302550"/>
            <a:ext cx="3474124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96948" y="1811893"/>
            <a:ext cx="3169325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품질 확인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88192" y="2302550"/>
            <a:ext cx="3474125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71072" y="1811893"/>
            <a:ext cx="3169325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관측과 품질 규칙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62317" y="2302550"/>
            <a:ext cx="3474363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45197" y="1811893"/>
            <a:ext cx="3169563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사용 여부를 판단할 품질 정보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14068" y="3238143"/>
            <a:ext cx="3474124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96948" y="2409230"/>
            <a:ext cx="3169325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저장·조회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88192" y="3238143"/>
            <a:ext cx="3474125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71072" y="2409230"/>
            <a:ext cx="3169325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관측 레코드와 실행 정보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62317" y="3238143"/>
            <a:ext cx="3474363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45197" y="2409230"/>
            <a:ext cx="3169563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같은 실행·구간을 다시 찾을 수 있는 기록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4068" y="3459123"/>
            <a:ext cx="10483572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품질OK는 </a:t>
            </a:r>
            <a:r>
              <a:rPr sz="1920" b="1">
                <a:solidFill>
                  <a:srgbClr val="007C78"/>
                </a:solidFill>
                <a:latin typeface="맑은 고딕"/>
              </a:rPr>
              <a:t>제공 센서 품질 규칙을 통과했다는 뜻</a:t>
            </a:r>
            <a:r>
              <a:rPr sz="1920" b="0">
                <a:solidFill>
                  <a:srgbClr val="162F36"/>
                </a:solidFill>
                <a:latin typeface="맑은 고딕"/>
              </a:rPr>
              <a:t>입니다. 설비 전체의 정상 판정은 아닙니다.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519708" cy="5532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설비 관계와 적용 문서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4068" y="518160"/>
            <a:ext cx="10483572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관측의 설비 ID → 그 설비의 센서·허용 조치 → 적용되는 현행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68" y="1101804"/>
            <a:ext cx="10483572" cy="8015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SOP는 작업 절차를 담은 문서입니다. 온도가 비슷해도 다른 설비의 절차를 그대로 적용할 수는 없습니다.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068" y="2078593"/>
            <a:ext cx="5211247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6948" y="2185273"/>
            <a:ext cx="4906447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5314" y="2078593"/>
            <a:ext cx="5211366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8194" y="2185273"/>
            <a:ext cx="4906566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판단에 필요한 이유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14068" y="3250406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6948" y="2767370"/>
            <a:ext cx="4906447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어느 설비에 적용되는가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25314" y="3250406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08194" y="2767370"/>
            <a:ext cx="4906566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대상이 다르면 조치도 다를 수 있음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14068" y="3847743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96948" y="3357086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현재 유효한 버전인가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5314" y="3847743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08194" y="3357086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폐기된 절차의 사용을 막음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14068" y="4445079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96948" y="3954423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지금 사건에 해당하는가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25314" y="4445079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08194" y="3954423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센서 오류와 냉각 이상을 구분함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519708" cy="5532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제안·승인·실행·회복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4068" y="533400"/>
            <a:ext cx="3474125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6948" y="640080"/>
            <a:ext cx="3169325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88192" y="533400"/>
            <a:ext cx="3474125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71072" y="640080"/>
            <a:ext cx="3169325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알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62317" y="533400"/>
            <a:ext cx="3474363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5197" y="640080"/>
            <a:ext cx="3169563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다음 확인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14068" y="2043470"/>
            <a:ext cx="3474124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6948" y="1222177"/>
            <a:ext cx="3169325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조치 제안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88192" y="2043470"/>
            <a:ext cx="3474125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71072" y="1222177"/>
            <a:ext cx="3169325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도구와 근거로 어떤 조치를 제시했는가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62317" y="2043470"/>
            <a:ext cx="3474363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45197" y="1222177"/>
            <a:ext cx="3169563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적용 조건과 사람의 승인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14068" y="2979063"/>
            <a:ext cx="3474124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96948" y="2150150"/>
            <a:ext cx="3169325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승인 기록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88192" y="2979063"/>
            <a:ext cx="3474125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71072" y="2150150"/>
            <a:ext cx="3169325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누가 어떤 조치와 값을 허용했는가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62317" y="2979063"/>
            <a:ext cx="3474363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45197" y="2150150"/>
            <a:ext cx="3169563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실행 조건과 실제 실행 결과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14068" y="3576399"/>
            <a:ext cx="3474124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96948" y="3085743"/>
            <a:ext cx="3169325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명령 성공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88192" y="3576399"/>
            <a:ext cx="3474125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71072" y="3085743"/>
            <a:ext cx="3169325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명령이 수행됐는가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62317" y="3576399"/>
            <a:ext cx="3474363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45197" y="3085743"/>
            <a:ext cx="3169563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조치 이후 새 관측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14068" y="4511992"/>
            <a:ext cx="3474124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96948" y="3683079"/>
            <a:ext cx="3169325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회복 판단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88192" y="4511992"/>
            <a:ext cx="3474125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71072" y="3683079"/>
            <a:ext cx="3169325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새 관측이 회복 기준을 충족했는가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062317" y="4511992"/>
            <a:ext cx="3474363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45197" y="3683079"/>
            <a:ext cx="3169563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종결·추가 확인·이관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4068" y="4732972"/>
            <a:ext cx="10483572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1">
                <a:solidFill>
                  <a:srgbClr val="007C78"/>
                </a:solidFill>
                <a:latin typeface="맑은 고딕"/>
              </a:rPr>
              <a:t>명령 성공만으로 회복을 선언하지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519708" cy="5532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파일 재생과 시뮬레이터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4068" y="533400"/>
            <a:ext cx="5211247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6948" y="640080"/>
            <a:ext cx="4906447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UCI 파일 재생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5314" y="533400"/>
            <a:ext cx="5211366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08194" y="640080"/>
            <a:ext cx="4906566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교육용 합성 시뮬레이터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4068" y="1705213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96948" y="1222177"/>
            <a:ext cx="4906447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수집된 센서값을 다시 읽음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25314" y="1705213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08194" y="1222177"/>
            <a:ext cx="4906566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프로그램의 상태로 새 값을 생성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14068" y="2302550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96948" y="1811893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원본 사이클·위치로 추적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5314" y="2302550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08194" y="1811893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실행 ID·상태·조치 시점으로 추적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14068" y="3238143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96948" y="2409230"/>
            <a:ext cx="4906447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조치해도 과거 파일값은 바뀌지 않음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5314" y="3238143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08194" y="2409230"/>
            <a:ext cx="4906566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구현된 조치가 이후 생성값에 영향을 줄 수 있음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14068" y="3835479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96948" y="3344823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읽기·집계·출처 추적을 확인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25314" y="3835479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08194" y="3344823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승인·조치·재측정의 연결을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068" y="4056459"/>
            <a:ext cx="10483572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시뮬레이터 결과는 해당 교육용 모델의 결과입니다. 실제 공장의 효과로 일반화하지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519708" cy="5532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제공 스택과 학생의 역할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4068" y="533400"/>
            <a:ext cx="5211247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6948" y="640080"/>
            <a:ext cx="4906447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도구·시스템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5314" y="533400"/>
            <a:ext cx="5211366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08194" y="640080"/>
            <a:ext cx="4906566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맡는 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4068" y="1705213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96948" y="1222177"/>
            <a:ext cx="4906447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Python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25314" y="1705213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08194" y="1222177"/>
            <a:ext cx="4906566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데이터를 읽고 처리하는 동작을 코드로 표현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14068" y="2302550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96948" y="1811893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PostgreSQL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5314" y="2302550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08194" y="1811893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관측과 실행·사건 등 기록 저장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14068" y="2899886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96948" y="2409230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Neo4j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5314" y="2899886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08194" y="2409230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설비와 문서 등의 관계 조회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14068" y="3497223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96948" y="3006566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에이전트와 업무 흐름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25314" y="3497223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08194" y="3006566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도구를 통한 제안과 승인·실행 연결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14068" y="4094559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96948" y="3603903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관제 화면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25314" y="4094559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08194" y="3603903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결과와 근거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4068" y="4315539"/>
            <a:ext cx="10483572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코딩 에이전트: 설치·구현·연결·검사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068" y="4899184"/>
            <a:ext cx="10483572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학생: </a:t>
            </a:r>
            <a:r>
              <a:rPr sz="1920" b="1">
                <a:solidFill>
                  <a:srgbClr val="007C78"/>
                </a:solidFill>
                <a:latin typeface="맑은 고딕"/>
              </a:rPr>
              <a:t>목적과 요구를 정하고, 실제 결과를 읽어 수용 여부 판단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519708" cy="5532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구현을 맡길 때 필요한 요구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4068" y="518160"/>
            <a:ext cx="10483572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‘온도 그래프를 만들어 줘’에 추가할 조건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068" y="1117044"/>
            <a:ext cx="5211247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6948" y="1223724"/>
            <a:ext cx="4906447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5314" y="1117044"/>
            <a:ext cx="5211366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8194" y="1223724"/>
            <a:ext cx="4906566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요구 예시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14068" y="2288858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96948" y="1805821"/>
            <a:ext cx="4906447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목적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25314" y="2288858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08194" y="1805821"/>
            <a:ext cx="4906566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표시된 값을 원본에서 찾을 수 있게 한다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14068" y="2886194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96948" y="2395538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입력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25314" y="2886194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08194" y="2395538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지정한 UCI 사이클의 TS1 관측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14068" y="3821787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96948" y="2992874"/>
            <a:ext cx="4906447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동작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25314" y="3821787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08194" y="2992874"/>
            <a:ext cx="4906566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경과 초별 온도를 표시하고 원본 위치를 함께 남긴다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14068" y="4419124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96948" y="3928467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확인 기준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25314" y="4419124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08194" y="3928467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단위·사이클·경과 초가 원본과 일치해야 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068" y="4640104"/>
            <a:ext cx="10483572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SDD: 구현 전에 필요한 동작과 확인 기준을 명세로 정리하는 방식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502212" cy="5532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이해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96572" y="518160"/>
            <a:ext cx="9501068" cy="8015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1. 부하 감소 뒤 과거 UCI 파일을 다시 읽었습니다. 온도가 내려간 구간이 보이면 이번 조치의 효과라고 할 수 있을까요?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6572" y="1479709"/>
            <a:ext cx="9501068" cy="8015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2. 에이전트가 ‘승인받았다’고 답했습니다. 실제 실행 전에 어떤 기록을 확인해야 할까요?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96572" y="2441258"/>
            <a:ext cx="9501068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3. 품질OK인 높은 온도가 보입니다. 센서 품질 확인 다음에는 무엇을 확인해야 할까요?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96572" y="3024902"/>
            <a:ext cx="9501068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판단 이유를 생각한 뒤 해설과 비교합니다.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519708" cy="5532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결과를 수용할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4068" y="533400"/>
            <a:ext cx="5211247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6948" y="640080"/>
            <a:ext cx="4906447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출력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5314" y="533400"/>
            <a:ext cx="5211366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08194" y="640080"/>
            <a:ext cx="4906566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수용 전에 확인할 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4068" y="1705213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96948" y="1222177"/>
            <a:ext cx="4906447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온도 곡선만 있음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25314" y="1705213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08194" y="1222177"/>
            <a:ext cx="4906566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대상·단위·원본 위치·시간축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14068" y="2302550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96948" y="1811893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‘테스트 통과’라는 보고만 있음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5314" y="2302550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08194" y="1811893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어떤 입력과 조건을 검사했는지, 실제 출력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14068" y="2899886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96948" y="2409230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과거 파일에서 온도가 하락함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5314" y="2899886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08194" y="2409230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이번 조치 뒤 생성된 관측인지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14068" y="3497223"/>
            <a:ext cx="521124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96948" y="3006566"/>
            <a:ext cx="4906447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‘승인 완료’라는 문장만 있음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25314" y="3497223"/>
            <a:ext cx="5211366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08194" y="3006566"/>
            <a:ext cx="4906566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해당 사건·조치·값에 대한 실제 승인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068" y="3718203"/>
            <a:ext cx="10483572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결과가 요구에 맞으면 수용합니다. 부족하면 빠진 조건과 관찰 결과를 들어 수정을 요청합니다.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3530560" cy="5532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다음 판단의 출발점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4920" y="518160"/>
            <a:ext cx="74727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관측에는 대상·단위·시간·출처를 남깁니다.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24920" y="1101804"/>
            <a:ext cx="7472720" cy="8015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제안에는 적용 근거를, 실행에는 승인을, 회복 판단에는 새 관측을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24920" y="2063353"/>
            <a:ext cx="74727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학생은 제공 스택을 직접 사용하고 </a:t>
            </a:r>
            <a:r>
              <a:rPr sz="1920" b="1">
                <a:solidFill>
                  <a:srgbClr val="007C78"/>
                </a:solidFill>
                <a:latin typeface="맑은 고딕"/>
              </a:rPr>
              <a:t>요구와 결과를 대조</a:t>
            </a:r>
            <a:r>
              <a:rPr sz="1920" b="0">
                <a:solidFill>
                  <a:srgbClr val="162F36"/>
                </a:solidFill>
                <a:latin typeface="맑은 고딕"/>
              </a:rPr>
              <a:t>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24920" y="2646998"/>
            <a:ext cx="74727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다음 영상: 센서값과 단위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